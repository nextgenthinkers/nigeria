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Default Extension="vml" ContentType="application/vnd.openxmlformats-officedocument.vmlDrawing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Default Extension="bin" ContentType="application/vnd.openxmlformats-officedocument.oleObject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3690" r:id="rId1"/>
  </p:sldMasterIdLst>
  <p:notesMasterIdLst>
    <p:notesMasterId r:id="rId29"/>
  </p:notesMasterIdLst>
  <p:sldIdLst>
    <p:sldId id="256" r:id="rId2"/>
    <p:sldId id="323" r:id="rId3"/>
    <p:sldId id="324" r:id="rId4"/>
    <p:sldId id="325" r:id="rId5"/>
    <p:sldId id="326" r:id="rId6"/>
    <p:sldId id="327" r:id="rId7"/>
    <p:sldId id="328" r:id="rId8"/>
    <p:sldId id="329" r:id="rId9"/>
    <p:sldId id="330" r:id="rId10"/>
    <p:sldId id="331" r:id="rId11"/>
    <p:sldId id="332" r:id="rId12"/>
    <p:sldId id="333" r:id="rId13"/>
    <p:sldId id="334" r:id="rId14"/>
    <p:sldId id="335" r:id="rId15"/>
    <p:sldId id="357" r:id="rId16"/>
    <p:sldId id="337" r:id="rId17"/>
    <p:sldId id="338" r:id="rId18"/>
    <p:sldId id="339" r:id="rId19"/>
    <p:sldId id="340" r:id="rId20"/>
    <p:sldId id="341" r:id="rId21"/>
    <p:sldId id="342" r:id="rId22"/>
    <p:sldId id="343" r:id="rId23"/>
    <p:sldId id="359" r:id="rId24"/>
    <p:sldId id="358" r:id="rId25"/>
    <p:sldId id="345" r:id="rId26"/>
    <p:sldId id="361" r:id="rId27"/>
    <p:sldId id="356" r:id="rId28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00FF"/>
    <a:srgbClr val="006600"/>
    <a:srgbClr val="00CC99"/>
    <a:srgbClr val="FF9933"/>
    <a:srgbClr val="FFCC00"/>
    <a:srgbClr val="CC9900"/>
    <a:srgbClr val="996600"/>
    <a:srgbClr val="FF9900"/>
    <a:srgbClr val="FFE593"/>
    <a:srgbClr val="F5F5F5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2439" autoAdjust="0"/>
    <p:restoredTop sz="94626"/>
  </p:normalViewPr>
  <p:slideViewPr>
    <p:cSldViewPr snapToGrid="0">
      <p:cViewPr varScale="1">
        <p:scale>
          <a:sx n="50" d="100"/>
          <a:sy n="50" d="100"/>
        </p:scale>
        <p:origin x="-888" y="-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image" Target="../media/image21.wmf"/><Relationship Id="rId7" Type="http://schemas.openxmlformats.org/officeDocument/2006/relationships/image" Target="../media/image25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Relationship Id="rId9" Type="http://schemas.openxmlformats.org/officeDocument/2006/relationships/image" Target="../media/image2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4" Type="http://schemas.openxmlformats.org/officeDocument/2006/relationships/image" Target="../media/image31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image" Target="../media/image34.wmf"/><Relationship Id="rId7" Type="http://schemas.openxmlformats.org/officeDocument/2006/relationships/image" Target="../media/image38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9.wmf"/><Relationship Id="rId1" Type="http://schemas.openxmlformats.org/officeDocument/2006/relationships/image" Target="../media/image48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Relationship Id="rId5" Type="http://schemas.openxmlformats.org/officeDocument/2006/relationships/image" Target="../media/image57.wmf"/><Relationship Id="rId4" Type="http://schemas.openxmlformats.org/officeDocument/2006/relationships/image" Target="../media/image56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66.wmf"/><Relationship Id="rId1" Type="http://schemas.openxmlformats.org/officeDocument/2006/relationships/image" Target="../media/image65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Relationship Id="rId4" Type="http://schemas.openxmlformats.org/officeDocument/2006/relationships/image" Target="../media/image71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7" Type="http://schemas.openxmlformats.org/officeDocument/2006/relationships/image" Target="../media/image78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Relationship Id="rId6" Type="http://schemas.openxmlformats.org/officeDocument/2006/relationships/image" Target="../media/image77.wmf"/><Relationship Id="rId5" Type="http://schemas.openxmlformats.org/officeDocument/2006/relationships/image" Target="../media/image76.wmf"/><Relationship Id="rId4" Type="http://schemas.openxmlformats.org/officeDocument/2006/relationships/image" Target="../media/image7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132B5D-BA00-43C2-A88D-130419379393}" type="datetimeFigureOut">
              <a:rPr lang="en-IN" smtClean="0"/>
              <a:pPr/>
              <a:t>08-07-2020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9660CE-BDBB-4431-A1CE-3B1D1E0D050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153227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02422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37317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8050" y="958624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8050" y="415403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xmlns="" val="3266611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506639"/>
            <a:ext cx="10134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39056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286" y="2585811"/>
            <a:ext cx="10134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or-IN"/>
          </a:p>
        </p:txBody>
      </p:sp>
    </p:spTree>
    <p:extLst>
      <p:ext uri="{BB962C8B-B14F-4D97-AF65-F5344CB8AC3E}">
        <p14:creationId xmlns:p14="http://schemas.microsoft.com/office/powerpoint/2010/main" xmlns="" val="2549613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452327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9200" y="365125"/>
            <a:ext cx="10134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1674249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6" r:id="rId4"/>
    <p:sldLayoutId id="2147483698" r:id="rId5"/>
    <p:sldLayoutId id="2147483697" r:id="rId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open?id=1eWBOF-GspccikBWPsM5W6lr2TxPWfnxF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5" Type="http://schemas.openxmlformats.org/officeDocument/2006/relationships/oleObject" Target="../embeddings/oleObject4.bin"/><Relationship Id="rId4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7.png"/><Relationship Id="rId11" Type="http://schemas.openxmlformats.org/officeDocument/2006/relationships/oleObject" Target="../embeddings/oleObject10.bin"/><Relationship Id="rId5" Type="http://schemas.openxmlformats.org/officeDocument/2006/relationships/image" Target="../media/image16.png"/><Relationship Id="rId10" Type="http://schemas.openxmlformats.org/officeDocument/2006/relationships/oleObject" Target="../embeddings/oleObject9.bin"/><Relationship Id="rId4" Type="http://schemas.openxmlformats.org/officeDocument/2006/relationships/image" Target="../media/image15.png"/><Relationship Id="rId9" Type="http://schemas.openxmlformats.org/officeDocument/2006/relationships/oleObject" Target="../embeddings/oleObject8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4.bin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3.bin"/><Relationship Id="rId10" Type="http://schemas.openxmlformats.org/officeDocument/2006/relationships/oleObject" Target="../embeddings/oleObject18.bin"/><Relationship Id="rId4" Type="http://schemas.openxmlformats.org/officeDocument/2006/relationships/oleObject" Target="../embeddings/oleObject12.bin"/><Relationship Id="rId9" Type="http://schemas.openxmlformats.org/officeDocument/2006/relationships/oleObject" Target="../embeddings/oleObject17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3.bin"/><Relationship Id="rId5" Type="http://schemas.openxmlformats.org/officeDocument/2006/relationships/oleObject" Target="../embeddings/oleObject22.bin"/><Relationship Id="rId4" Type="http://schemas.openxmlformats.org/officeDocument/2006/relationships/oleObject" Target="../embeddings/oleObject21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7.bin"/><Relationship Id="rId5" Type="http://schemas.openxmlformats.org/officeDocument/2006/relationships/oleObject" Target="../embeddings/oleObject26.bin"/><Relationship Id="rId10" Type="http://schemas.openxmlformats.org/officeDocument/2006/relationships/oleObject" Target="../embeddings/oleObject31.bin"/><Relationship Id="rId4" Type="http://schemas.openxmlformats.org/officeDocument/2006/relationships/oleObject" Target="../embeddings/oleObject25.bin"/><Relationship Id="rId9" Type="http://schemas.openxmlformats.org/officeDocument/2006/relationships/oleObject" Target="../embeddings/oleObject30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3.png"/><Relationship Id="rId5" Type="http://schemas.openxmlformats.org/officeDocument/2006/relationships/oleObject" Target="../embeddings/oleObject34.bin"/><Relationship Id="rId4" Type="http://schemas.openxmlformats.org/officeDocument/2006/relationships/oleObject" Target="../embeddings/oleObject33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4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oleObject" Target="../embeddings/oleObject38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5" Type="http://schemas.openxmlformats.org/officeDocument/2006/relationships/oleObject" Target="../embeddings/oleObject40.bin"/><Relationship Id="rId4" Type="http://schemas.openxmlformats.org/officeDocument/2006/relationships/image" Target="../media/image5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.bin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43.bin"/><Relationship Id="rId5" Type="http://schemas.openxmlformats.org/officeDocument/2006/relationships/oleObject" Target="../embeddings/oleObject42.bin"/><Relationship Id="rId4" Type="http://schemas.openxmlformats.org/officeDocument/2006/relationships/image" Target="../media/image5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oleObject" Target="../embeddings/oleObject48.bin"/><Relationship Id="rId4" Type="http://schemas.openxmlformats.org/officeDocument/2006/relationships/oleObject" Target="../embeddings/oleObject47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5" Type="http://schemas.openxmlformats.org/officeDocument/2006/relationships/oleObject" Target="../embeddings/oleObject51.bin"/><Relationship Id="rId4" Type="http://schemas.openxmlformats.org/officeDocument/2006/relationships/oleObject" Target="../embeddings/oleObject50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oleObject" Target="../embeddings/oleObject53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9k-7Kbf5GzU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57.bin"/><Relationship Id="rId5" Type="http://schemas.openxmlformats.org/officeDocument/2006/relationships/oleObject" Target="../embeddings/oleObject56.bin"/><Relationship Id="rId4" Type="http://schemas.openxmlformats.org/officeDocument/2006/relationships/oleObject" Target="../embeddings/oleObject55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3.bin"/><Relationship Id="rId3" Type="http://schemas.openxmlformats.org/officeDocument/2006/relationships/oleObject" Target="../embeddings/oleObject58.bin"/><Relationship Id="rId7" Type="http://schemas.openxmlformats.org/officeDocument/2006/relationships/oleObject" Target="../embeddings/oleObject6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61.bin"/><Relationship Id="rId5" Type="http://schemas.openxmlformats.org/officeDocument/2006/relationships/oleObject" Target="../embeddings/oleObject60.bin"/><Relationship Id="rId4" Type="http://schemas.openxmlformats.org/officeDocument/2006/relationships/oleObject" Target="../embeddings/oleObject59.bin"/><Relationship Id="rId9" Type="http://schemas.openxmlformats.org/officeDocument/2006/relationships/oleObject" Target="../embeddings/oleObject64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23581" y="2483894"/>
            <a:ext cx="1020852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 MATHEMATICS-CLASS-IV</a:t>
            </a:r>
          </a:p>
          <a:p>
            <a:pPr algn="ctr"/>
            <a:endParaRPr lang="en-US" sz="32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sz="32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CHAPTER - FRACTIONS</a:t>
            </a:r>
            <a:endParaRPr lang="en-US" sz="36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2528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23833" y="487485"/>
            <a:ext cx="1026311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spc="-285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Book Link</a:t>
            </a:r>
            <a:endParaRPr lang="en-US" sz="4000" dirty="0"/>
          </a:p>
        </p:txBody>
      </p:sp>
      <p:sp>
        <p:nvSpPr>
          <p:cNvPr id="3" name="Rectangle 2"/>
          <p:cNvSpPr/>
          <p:nvPr/>
        </p:nvSpPr>
        <p:spPr>
          <a:xfrm>
            <a:off x="622300" y="2813735"/>
            <a:ext cx="10972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."/>
                <a:hlinkClick r:id="rId2"/>
              </a:rPr>
              <a:t>https://drive.google.com/open?id=1eWBOF-GspccikBWPsM5W6lr2TxPWfnxF</a:t>
            </a:r>
            <a:endParaRPr lang="en-US" dirty="0">
              <a:latin typeface="Ar."/>
            </a:endParaRPr>
          </a:p>
          <a:p>
            <a:endParaRPr lang="en-US" dirty="0">
              <a:latin typeface="Ar.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136900" y="1543735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2000" b="1" dirty="0">
                <a:latin typeface="Ar."/>
              </a:rPr>
              <a:t>Std. IV</a:t>
            </a:r>
          </a:p>
          <a:p>
            <a:pPr algn="ctr"/>
            <a:r>
              <a:rPr lang="en-US" sz="2000" b="1" dirty="0">
                <a:latin typeface="Ar."/>
              </a:rPr>
              <a:t>Chapter – 9 </a:t>
            </a:r>
          </a:p>
          <a:p>
            <a:pPr algn="ctr"/>
            <a:r>
              <a:rPr lang="en-US" sz="2000" b="1" dirty="0">
                <a:latin typeface="Ar."/>
              </a:rPr>
              <a:t>(FRACTIONS)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18599" y="351008"/>
            <a:ext cx="105092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spc="-245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Learning Objectives</a:t>
            </a:r>
            <a:endParaRPr lang="en-US" sz="3600" dirty="0"/>
          </a:p>
        </p:txBody>
      </p:sp>
      <p:sp>
        <p:nvSpPr>
          <p:cNvPr id="5" name="Rectangle 4"/>
          <p:cNvSpPr/>
          <p:nvPr/>
        </p:nvSpPr>
        <p:spPr>
          <a:xfrm>
            <a:off x="577755" y="986894"/>
            <a:ext cx="1102284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32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Understand and explain the concept of fraction - As a part of a whole.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32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Understand the types of Fractions.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32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Find equivalent fractions from a given fraction.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32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Conversion of Mixed fraction into improper fraction.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32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Conversion of Improper fraction into mixed number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12299" y="351009"/>
            <a:ext cx="104610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EXAMPLE OF FRACTION CONCEPT IN REAL LIFE</a:t>
            </a:r>
            <a:endParaRPr lang="en-US" sz="3200" dirty="0"/>
          </a:p>
        </p:txBody>
      </p:sp>
      <p:sp>
        <p:nvSpPr>
          <p:cNvPr id="5" name="Rectangle 4"/>
          <p:cNvSpPr/>
          <p:nvPr/>
        </p:nvSpPr>
        <p:spPr>
          <a:xfrm>
            <a:off x="559559" y="859808"/>
            <a:ext cx="11054686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2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Time Telling</a:t>
            </a:r>
            <a:r>
              <a:rPr lang="en-US" sz="22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dirty="0">
                <a:latin typeface="Arial" pitchFamily="34" charset="0"/>
                <a:cs typeface="Arial" pitchFamily="34" charset="0"/>
              </a:rPr>
              <a:t>- Each minute is a fraction of an hour.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Baking</a:t>
            </a:r>
            <a:r>
              <a:rPr lang="en-US" sz="22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200" dirty="0">
                <a:latin typeface="Arial" pitchFamily="34" charset="0"/>
                <a:cs typeface="Arial" pitchFamily="34" charset="0"/>
              </a:rPr>
              <a:t>- Proper fraction of ingredients are used for a sweet cake or biscuits.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Sales and Discounts </a:t>
            </a:r>
            <a:r>
              <a:rPr lang="en-US" sz="2200" dirty="0">
                <a:latin typeface="Arial" pitchFamily="34" charset="0"/>
                <a:cs typeface="Arial" pitchFamily="34" charset="0"/>
              </a:rPr>
              <a:t>- Fraction of discounts are provided on MRP during seasonal sale.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Chocolate Distribution on Birthday in Class </a:t>
            </a:r>
            <a:r>
              <a:rPr lang="en-US" sz="2200" dirty="0">
                <a:latin typeface="Arial" pitchFamily="34" charset="0"/>
                <a:cs typeface="Arial" pitchFamily="34" charset="0"/>
              </a:rPr>
              <a:t>– Each child gets equal number of chocolate from the whole packet.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Manufacture of </a:t>
            </a:r>
            <a:r>
              <a:rPr lang="en-US" sz="2200" b="1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Jewellery</a:t>
            </a:r>
            <a:r>
              <a:rPr lang="en-US" sz="22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dirty="0">
                <a:latin typeface="Arial" pitchFamily="34" charset="0"/>
                <a:cs typeface="Arial" pitchFamily="34" charset="0"/>
              </a:rPr>
              <a:t>- 24 karats is pure gold, and 18 karats is 		which equals 75% </a:t>
            </a:r>
            <a:r>
              <a:rPr lang="en-US" sz="2200" dirty="0" err="1">
                <a:latin typeface="Arial" pitchFamily="34" charset="0"/>
                <a:cs typeface="Arial" pitchFamily="34" charset="0"/>
              </a:rPr>
              <a:t>gold.Using</a:t>
            </a:r>
            <a:r>
              <a:rPr lang="en-US" sz="2200" dirty="0">
                <a:latin typeface="Arial" pitchFamily="34" charset="0"/>
                <a:cs typeface="Arial" pitchFamily="34" charset="0"/>
              </a:rPr>
              <a:t> fractions to understand </a:t>
            </a:r>
            <a:r>
              <a:rPr lang="en-US" sz="2200" dirty="0" err="1">
                <a:latin typeface="Arial" pitchFamily="34" charset="0"/>
                <a:cs typeface="Arial" pitchFamily="34" charset="0"/>
              </a:rPr>
              <a:t>jewellery</a:t>
            </a:r>
            <a:r>
              <a:rPr lang="en-US" sz="2200" dirty="0"/>
              <a:t> </a:t>
            </a:r>
            <a:r>
              <a:rPr lang="en-US" sz="2200" dirty="0">
                <a:latin typeface="Arial" pitchFamily="34" charset="0"/>
                <a:cs typeface="Arial" pitchFamily="34" charset="0"/>
              </a:rPr>
              <a:t>purity could save your money 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Photography</a:t>
            </a:r>
            <a:r>
              <a:rPr lang="en-US" sz="22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200" dirty="0">
                <a:latin typeface="Arial" pitchFamily="34" charset="0"/>
                <a:cs typeface="Arial" pitchFamily="34" charset="0"/>
              </a:rPr>
              <a:t>- Shutter speed of a camera is calculated in fraction unit of time. 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2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Pizza for the kids - </a:t>
            </a:r>
            <a:r>
              <a:rPr lang="en-US" sz="2200" dirty="0">
                <a:latin typeface="Arial" pitchFamily="34" charset="0"/>
                <a:cs typeface="Arial" pitchFamily="34" charset="0"/>
              </a:rPr>
              <a:t>Mealtime doesn’t have to be a battle about who got more. Use fractions to split the pie evenly.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endParaRPr lang="en-US" sz="2200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9645365" y="3889447"/>
          <a:ext cx="364509" cy="627766"/>
        </p:xfrm>
        <a:graphic>
          <a:graphicData uri="http://schemas.openxmlformats.org/presentationml/2006/ole">
            <p:oleObj spid="_x0000_s19459" name="Equation" r:id="rId3" imgW="228600" imgH="393480" progId="Equation.3">
              <p:embed/>
            </p:oleObj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83701" y="391952"/>
            <a:ext cx="103623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INTRODUCTION TO FRACTION 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50710" y="1099614"/>
            <a:ext cx="1047693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latin typeface="Arial" pitchFamily="34" charset="0"/>
                <a:cs typeface="Arial" pitchFamily="34" charset="0"/>
              </a:rPr>
              <a:t>The word ‘Fraction’ comes from the Latin word ‘</a:t>
            </a:r>
            <a:r>
              <a:rPr lang="en-US" sz="3200" b="1" dirty="0" err="1">
                <a:latin typeface="Arial" pitchFamily="34" charset="0"/>
                <a:cs typeface="Arial" pitchFamily="34" charset="0"/>
              </a:rPr>
              <a:t>Fractus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’ which means ‘Broken part’. </a:t>
            </a:r>
          </a:p>
        </p:txBody>
      </p:sp>
      <p:pic>
        <p:nvPicPr>
          <p:cNvPr id="6" name="Picture 5" descr="004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90800"/>
            <a:ext cx="2514600" cy="2514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445852" y="4745588"/>
            <a:ext cx="4431021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400" b="1" spc="-35" dirty="0">
                <a:latin typeface="Arial" pitchFamily="34" charset="0"/>
                <a:cs typeface="Arial" pitchFamily="34" charset="0"/>
              </a:rPr>
              <a:t>Fractions </a:t>
            </a:r>
            <a:r>
              <a:rPr lang="en-US" sz="4400" b="1" spc="-5" dirty="0">
                <a:latin typeface="Arial" pitchFamily="34" charset="0"/>
                <a:cs typeface="Arial" pitchFamily="34" charset="0"/>
              </a:rPr>
              <a:t>Mean</a:t>
            </a:r>
            <a:r>
              <a:rPr lang="en-US" sz="4400" b="1" spc="-30" dirty="0">
                <a:latin typeface="Arial" pitchFamily="34" charset="0"/>
                <a:cs typeface="Arial" pitchFamily="34" charset="0"/>
              </a:rPr>
              <a:t> </a:t>
            </a:r>
          </a:p>
          <a:p>
            <a:pPr algn="ctr"/>
            <a:r>
              <a:rPr lang="en-US" sz="4400" b="1" spc="-5" dirty="0">
                <a:solidFill>
                  <a:srgbClr val="0000FF"/>
                </a:solidFill>
              </a:rPr>
              <a:t>Parts</a:t>
            </a:r>
            <a:endParaRPr lang="en-US" sz="4400" b="1" dirty="0"/>
          </a:p>
        </p:txBody>
      </p:sp>
      <p:pic>
        <p:nvPicPr>
          <p:cNvPr id="8" name="Picture 7" descr="unnamed.gif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CC"/>
              </a:clrFrom>
              <a:clrTo>
                <a:srgbClr val="FFFFC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71012" y="2637430"/>
            <a:ext cx="3702025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04729" y="378304"/>
            <a:ext cx="103822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What are Fractions ?</a:t>
            </a:r>
            <a:endParaRPr lang="en-US" sz="3600" dirty="0">
              <a:solidFill>
                <a:srgbClr val="0000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5994" y="963137"/>
            <a:ext cx="1088636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Parts of a Whole</a:t>
            </a:r>
          </a:p>
          <a:p>
            <a:pPr>
              <a:buFont typeface="Wingdings" pitchFamily="2" charset="2"/>
              <a:buChar char="ü"/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Example:</a:t>
            </a: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7800210" y="1271730"/>
          <a:ext cx="563562" cy="1214437"/>
        </p:xfrm>
        <a:graphic>
          <a:graphicData uri="http://schemas.openxmlformats.org/presentationml/2006/ole">
            <p:oleObj spid="_x0000_s1036" name="Equation" r:id="rId3" imgW="126890" imgH="228402" progId="Equation.3">
              <p:embed/>
            </p:oleObj>
          </a:graphicData>
        </a:graphic>
      </p:graphicFrame>
      <p:graphicFrame>
        <p:nvGraphicFramePr>
          <p:cNvPr id="5129" name="Object 9"/>
          <p:cNvGraphicFramePr>
            <a:graphicFrameLocks noChangeAspect="1"/>
          </p:cNvGraphicFramePr>
          <p:nvPr/>
        </p:nvGraphicFramePr>
        <p:xfrm>
          <a:off x="5657085" y="1266967"/>
          <a:ext cx="563562" cy="1214438"/>
        </p:xfrm>
        <a:graphic>
          <a:graphicData uri="http://schemas.openxmlformats.org/presentationml/2006/ole">
            <p:oleObj spid="_x0000_s1037" name="Equation" r:id="rId4" imgW="126890" imgH="228402" progId="Equation.3">
              <p:embed/>
            </p:oleObj>
          </a:graphicData>
        </a:graphic>
      </p:graphicFrame>
      <p:graphicFrame>
        <p:nvGraphicFramePr>
          <p:cNvPr id="5130" name="Object 10"/>
          <p:cNvGraphicFramePr>
            <a:graphicFrameLocks noChangeAspect="1"/>
          </p:cNvGraphicFramePr>
          <p:nvPr/>
        </p:nvGraphicFramePr>
        <p:xfrm>
          <a:off x="6734997" y="1276492"/>
          <a:ext cx="565150" cy="1214438"/>
        </p:xfrm>
        <a:graphic>
          <a:graphicData uri="http://schemas.openxmlformats.org/presentationml/2006/ole">
            <p:oleObj spid="_x0000_s1038" name="Equation" r:id="rId5" imgW="126890" imgH="228402" progId="Equation.3">
              <p:embed/>
            </p:oleObj>
          </a:graphicData>
        </a:graphic>
      </p:graphicFrame>
      <p:graphicFrame>
        <p:nvGraphicFramePr>
          <p:cNvPr id="5131" name="Object 11"/>
          <p:cNvGraphicFramePr>
            <a:graphicFrameLocks noChangeAspect="1"/>
          </p:cNvGraphicFramePr>
          <p:nvPr/>
        </p:nvGraphicFramePr>
        <p:xfrm>
          <a:off x="4656960" y="1271730"/>
          <a:ext cx="563562" cy="1214437"/>
        </p:xfrm>
        <a:graphic>
          <a:graphicData uri="http://schemas.openxmlformats.org/presentationml/2006/ole">
            <p:oleObj spid="_x0000_s1039" name="Equation" r:id="rId6" imgW="126890" imgH="228402" progId="Equation.3">
              <p:embed/>
            </p:oleObj>
          </a:graphicData>
        </a:graphic>
      </p:graphicFrame>
      <p:graphicFrame>
        <p:nvGraphicFramePr>
          <p:cNvPr id="1030" name="Object 6"/>
          <p:cNvGraphicFramePr>
            <a:graphicFrameLocks noChangeAspect="1"/>
          </p:cNvGraphicFramePr>
          <p:nvPr/>
        </p:nvGraphicFramePr>
        <p:xfrm>
          <a:off x="1054289" y="3162869"/>
          <a:ext cx="928688" cy="1500188"/>
        </p:xfrm>
        <a:graphic>
          <a:graphicData uri="http://schemas.openxmlformats.org/presentationml/2006/ole">
            <p:oleObj spid="_x0000_s1040" name="Equation" r:id="rId7" imgW="126720" imgH="228600" progId="Equation.3">
              <p:embed/>
            </p:oleObj>
          </a:graphicData>
        </a:graphic>
      </p:graphicFrame>
      <p:cxnSp>
        <p:nvCxnSpPr>
          <p:cNvPr id="11" name="Straight Arrow Connector 10"/>
          <p:cNvCxnSpPr/>
          <p:nvPr/>
        </p:nvCxnSpPr>
        <p:spPr>
          <a:xfrm flipV="1">
            <a:off x="1666744" y="3588302"/>
            <a:ext cx="1214446" cy="142876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1666744" y="4231244"/>
            <a:ext cx="1143008" cy="35719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11522" y="3215017"/>
            <a:ext cx="20289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Numerator</a:t>
            </a:r>
          </a:p>
          <a:p>
            <a:pPr algn="ctr"/>
            <a:r>
              <a:rPr lang="en-US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(Nr)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061648" y="4279543"/>
            <a:ext cx="16741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Denominator</a:t>
            </a:r>
          </a:p>
          <a:p>
            <a:pPr algn="ctr"/>
            <a:r>
              <a:rPr lang="en-US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(Dr)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306873" y="419248"/>
            <a:ext cx="20281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Fractions</a:t>
            </a:r>
            <a:endParaRPr lang="en-US" sz="3200" b="1" dirty="0">
              <a:solidFill>
                <a:srgbClr val="0000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1402" y="1081922"/>
            <a:ext cx="10831773" cy="1501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What do they mean …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We have 1 of those parts. The whole is split into 2 parts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We have 3 of those parts. The whole is split into 4 parts.</a:t>
            </a:r>
          </a:p>
        </p:txBody>
      </p:sp>
      <p:pic>
        <p:nvPicPr>
          <p:cNvPr id="6" name="Picture 5" descr="Examples of Fraction.png"/>
          <p:cNvPicPr>
            <a:picLocks noChangeAspect="1"/>
          </p:cNvPicPr>
          <p:nvPr/>
        </p:nvPicPr>
        <p:blipFill>
          <a:blip r:embed="rId2"/>
          <a:srcRect r="6557"/>
          <a:stretch>
            <a:fillRect/>
          </a:stretch>
        </p:blipFill>
        <p:spPr>
          <a:xfrm>
            <a:off x="1447800" y="3657599"/>
            <a:ext cx="4876800" cy="167524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8534400" y="2133600"/>
            <a:ext cx="1025525" cy="784225"/>
          </a:xfrm>
          <a:prstGeom prst="rect">
            <a:avLst/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9573064" y="2133600"/>
            <a:ext cx="1025525" cy="78422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eaLnBrk="0" hangingPunct="0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534400" y="3505200"/>
            <a:ext cx="1071570" cy="714380"/>
          </a:xfrm>
          <a:prstGeom prst="rect">
            <a:avLst/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534400" y="4219580"/>
            <a:ext cx="1071570" cy="7143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621136" y="4219580"/>
            <a:ext cx="1071570" cy="71438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601200" y="3505200"/>
            <a:ext cx="1071570" cy="7143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79258" y="432895"/>
            <a:ext cx="1040769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14400">
              <a:defRPr/>
            </a:pPr>
            <a:r>
              <a:rPr lang="en-US" sz="3200" b="1" kern="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TYPES OF FRACTIONS</a:t>
            </a:r>
            <a:endParaRPr lang="en-US" sz="3200" kern="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3163" y="1041486"/>
            <a:ext cx="11104729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32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Equivalent Fraction.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3200" b="1" dirty="0">
                <a:latin typeface="Arial" pitchFamily="34" charset="0"/>
                <a:cs typeface="Arial" pitchFamily="34" charset="0"/>
              </a:rPr>
              <a:t>Like Fraction.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32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Unlike Fractions.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3200" b="1" dirty="0">
                <a:latin typeface="Arial" pitchFamily="34" charset="0"/>
                <a:cs typeface="Arial" pitchFamily="34" charset="0"/>
              </a:rPr>
              <a:t>Proper Fraction.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32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Improper Fraction.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3200" b="1" dirty="0">
                <a:latin typeface="Arial" pitchFamily="34" charset="0"/>
                <a:cs typeface="Arial" pitchFamily="34" charset="0"/>
              </a:rPr>
              <a:t>Unit Fraction.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32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Mixed Number.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64343" y="405599"/>
            <a:ext cx="105226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u="sng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EQUIVALENT FRACTION</a:t>
            </a:r>
            <a:endParaRPr lang="en-US" sz="3600" b="1" u="sng" dirty="0">
              <a:solidFill>
                <a:srgbClr val="0000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8823" y="1138534"/>
            <a:ext cx="1072259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Arial" pitchFamily="34" charset="0"/>
                <a:cs typeface="Arial" pitchFamily="34" charset="0"/>
              </a:rPr>
              <a:t>Fractions which express the same part of a whole </a:t>
            </a:r>
          </a:p>
          <a:p>
            <a:pPr algn="ctr"/>
            <a:r>
              <a:rPr lang="en-US" sz="2800" b="1" dirty="0">
                <a:latin typeface="Arial" pitchFamily="34" charset="0"/>
                <a:cs typeface="Arial" pitchFamily="34" charset="0"/>
              </a:rPr>
              <a:t>but have different names are called </a:t>
            </a:r>
          </a:p>
          <a:p>
            <a:pPr algn="ctr"/>
            <a:r>
              <a:rPr lang="en-US" sz="2800" b="1" dirty="0">
                <a:latin typeface="Arial" pitchFamily="34" charset="0"/>
                <a:cs typeface="Arial" pitchFamily="34" charset="0"/>
              </a:rPr>
              <a:t>Equivalent Fractions.</a:t>
            </a:r>
          </a:p>
        </p:txBody>
      </p:sp>
      <p:pic>
        <p:nvPicPr>
          <p:cNvPr id="6" name="Picture 5" descr="EQ. Frac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96900" y="2565401"/>
            <a:ext cx="4305300" cy="1985220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>
            <a:off x="5118100" y="3187700"/>
            <a:ext cx="1600200" cy="685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10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62766" y="2965441"/>
            <a:ext cx="723902" cy="1071570"/>
          </a:xfrm>
          <a:prstGeom prst="rect">
            <a:avLst/>
          </a:prstGeom>
          <a:noFill/>
        </p:spPr>
      </p:pic>
      <p:pic>
        <p:nvPicPr>
          <p:cNvPr id="9" name="Picture 13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848584" y="3036879"/>
            <a:ext cx="357190" cy="982273"/>
          </a:xfrm>
          <a:prstGeom prst="rect">
            <a:avLst/>
          </a:prstGeom>
          <a:noFill/>
        </p:spPr>
      </p:pic>
      <p:pic>
        <p:nvPicPr>
          <p:cNvPr id="10" name="Picture 12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634402" y="3036878"/>
            <a:ext cx="500066" cy="1019459"/>
          </a:xfrm>
          <a:prstGeom prst="rect">
            <a:avLst/>
          </a:prstGeom>
          <a:noFill/>
        </p:spPr>
      </p:pic>
      <p:sp>
        <p:nvSpPr>
          <p:cNvPr id="11" name="Rectangle 10"/>
          <p:cNvSpPr/>
          <p:nvPr/>
        </p:nvSpPr>
        <p:spPr>
          <a:xfrm>
            <a:off x="8277212" y="3251193"/>
            <a:ext cx="30649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200" dirty="0">
                <a:solidFill>
                  <a:prstClr val="black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x</a:t>
            </a:r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12" name="Picture 17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563096" y="2894003"/>
            <a:ext cx="571504" cy="13096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9162604" y="3164589"/>
            <a:ext cx="50006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=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4833035"/>
            <a:ext cx="10642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Ar."/>
              </a:rPr>
              <a:t>Q .Change        into an equivalent fraction with  numerator as 20.            (2 mark)</a:t>
            </a:r>
          </a:p>
          <a:p>
            <a:endParaRPr lang="en-US" b="1" dirty="0">
              <a:solidFill>
                <a:srgbClr val="C00000"/>
              </a:solidFill>
              <a:latin typeface="Ar."/>
            </a:endParaRPr>
          </a:p>
          <a:p>
            <a:r>
              <a:rPr lang="en-US" b="1" dirty="0" err="1">
                <a:solidFill>
                  <a:srgbClr val="0000FF"/>
                </a:solidFill>
                <a:latin typeface="Ar."/>
              </a:rPr>
              <a:t>Ans</a:t>
            </a:r>
            <a:r>
              <a:rPr lang="en-US" b="1" dirty="0">
                <a:solidFill>
                  <a:srgbClr val="0000FF"/>
                </a:solidFill>
                <a:latin typeface="Ar."/>
              </a:rPr>
              <a:t>: </a:t>
            </a:r>
            <a:r>
              <a:rPr lang="en-US" b="1" dirty="0">
                <a:solidFill>
                  <a:srgbClr val="C00000"/>
                </a:solidFill>
                <a:latin typeface="Ar."/>
              </a:rPr>
              <a:t>	</a:t>
            </a:r>
            <a:r>
              <a:rPr lang="en-US" dirty="0">
                <a:solidFill>
                  <a:srgbClr val="C00000"/>
                </a:solidFill>
                <a:latin typeface="Ar."/>
              </a:rPr>
              <a:t>  </a:t>
            </a:r>
            <a:r>
              <a:rPr lang="en-US" dirty="0">
                <a:solidFill>
                  <a:srgbClr val="0000FF"/>
                </a:solidFill>
                <a:latin typeface="Ar."/>
              </a:rPr>
              <a:t>4x5 = 20</a:t>
            </a:r>
          </a:p>
          <a:p>
            <a:r>
              <a:rPr lang="en-US" dirty="0">
                <a:solidFill>
                  <a:srgbClr val="0000FF"/>
                </a:solidFill>
                <a:latin typeface="Ar."/>
              </a:rPr>
              <a:t>	  	  9x5 =45       </a:t>
            </a:r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1879600" y="4818063"/>
          <a:ext cx="292100" cy="604837"/>
        </p:xfrm>
        <a:graphic>
          <a:graphicData uri="http://schemas.openxmlformats.org/presentationml/2006/ole">
            <p:oleObj spid="_x0000_s54281" name="Equation" r:id="rId8" imgW="152280" imgH="393480" progId="Equation.3">
              <p:embed/>
            </p:oleObj>
          </a:graphicData>
        </a:graphic>
      </p:graphicFrame>
      <p:cxnSp>
        <p:nvCxnSpPr>
          <p:cNvPr id="17" name="Straight Connector 16"/>
          <p:cNvCxnSpPr/>
          <p:nvPr/>
        </p:nvCxnSpPr>
        <p:spPr>
          <a:xfrm>
            <a:off x="1663700" y="5689600"/>
            <a:ext cx="939800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2635250" y="5376862"/>
          <a:ext cx="539750" cy="619713"/>
        </p:xfrm>
        <a:graphic>
          <a:graphicData uri="http://schemas.openxmlformats.org/presentationml/2006/ole">
            <p:oleObj spid="_x0000_s54282" name="Equation" r:id="rId9" imgW="342720" imgH="393480" progId="Equation.3">
              <p:embed/>
            </p:oleObj>
          </a:graphicData>
        </a:graphic>
      </p:graphicFrame>
      <p:graphicFrame>
        <p:nvGraphicFramePr>
          <p:cNvPr id="54275" name="Object 3"/>
          <p:cNvGraphicFramePr>
            <a:graphicFrameLocks noChangeAspect="1"/>
          </p:cNvGraphicFramePr>
          <p:nvPr/>
        </p:nvGraphicFramePr>
        <p:xfrm>
          <a:off x="1219200" y="5351463"/>
          <a:ext cx="292100" cy="604837"/>
        </p:xfrm>
        <a:graphic>
          <a:graphicData uri="http://schemas.openxmlformats.org/presentationml/2006/ole">
            <p:oleObj spid="_x0000_s54283" name="Equation" r:id="rId10" imgW="152280" imgH="393480" progId="Equation.3">
              <p:embed/>
            </p:oleObj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/>
        </p:nvGraphicFramePr>
        <p:xfrm>
          <a:off x="1447800" y="5586412"/>
          <a:ext cx="127000" cy="179387"/>
        </p:xfrm>
        <a:graphic>
          <a:graphicData uri="http://schemas.openxmlformats.org/presentationml/2006/ole">
            <p:oleObj spid="_x0000_s54284" name="Equation" r:id="rId11" imgW="126720" imgH="10152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96369" y="389931"/>
            <a:ext cx="1051787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MISSING NUMERATOR OR DENOMINATOR OF EQUIVALENT FRACTIONS</a:t>
            </a:r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/>
        </p:nvGraphicFramePr>
        <p:xfrm>
          <a:off x="628686" y="1691192"/>
          <a:ext cx="428625" cy="857250"/>
        </p:xfrm>
        <a:graphic>
          <a:graphicData uri="http://schemas.openxmlformats.org/presentationml/2006/ole">
            <p:oleObj spid="_x0000_s2068" name="Equation" r:id="rId3" imgW="152280" imgH="393480" progId="Equation.3">
              <p:embed/>
            </p:oleObj>
          </a:graphicData>
        </a:graphic>
      </p:graphicFrame>
      <p:sp>
        <p:nvSpPr>
          <p:cNvPr id="7" name="Curved Up Arrow 6"/>
          <p:cNvSpPr/>
          <p:nvPr/>
        </p:nvSpPr>
        <p:spPr>
          <a:xfrm>
            <a:off x="785848" y="2529392"/>
            <a:ext cx="1571636" cy="336638"/>
          </a:xfrm>
          <a:prstGeom prst="curvedUp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628918" y="1895966"/>
            <a:ext cx="10001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=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3100" y="2110280"/>
            <a:ext cx="1214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itchFamily="34" charset="0"/>
                <a:cs typeface="Arial" pitchFamily="34" charset="0"/>
              </a:rPr>
              <a:t>x  2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Curved Down Arrow 9"/>
          <p:cNvSpPr/>
          <p:nvPr/>
        </p:nvSpPr>
        <p:spPr>
          <a:xfrm>
            <a:off x="785848" y="1392072"/>
            <a:ext cx="1571636" cy="275310"/>
          </a:xfrm>
          <a:prstGeom prst="curved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11" name="Object 4"/>
          <p:cNvGraphicFramePr>
            <a:graphicFrameLocks noChangeAspect="1"/>
          </p:cNvGraphicFramePr>
          <p:nvPr/>
        </p:nvGraphicFramePr>
        <p:xfrm>
          <a:off x="4343430" y="1610214"/>
          <a:ext cx="500066" cy="1214445"/>
        </p:xfrm>
        <a:graphic>
          <a:graphicData uri="http://schemas.openxmlformats.org/presentationml/2006/ole">
            <p:oleObj spid="_x0000_s2069" name="Equation" r:id="rId4" imgW="203040" imgH="393480" progId="Equation.3">
              <p:embed/>
            </p:oleObj>
          </a:graphicData>
        </a:graphic>
      </p:graphicFrame>
      <p:graphicFrame>
        <p:nvGraphicFramePr>
          <p:cNvPr id="12" name="Object 5"/>
          <p:cNvGraphicFramePr>
            <a:graphicFrameLocks noChangeAspect="1"/>
          </p:cNvGraphicFramePr>
          <p:nvPr/>
        </p:nvGraphicFramePr>
        <p:xfrm>
          <a:off x="3271859" y="1610214"/>
          <a:ext cx="516197" cy="1000132"/>
        </p:xfrm>
        <a:graphic>
          <a:graphicData uri="http://schemas.openxmlformats.org/presentationml/2006/ole">
            <p:oleObj spid="_x0000_s2070" name="Equation" r:id="rId5" imgW="203040" imgH="393480" progId="Equation.3">
              <p:embed/>
            </p:oleObj>
          </a:graphicData>
        </a:graphic>
      </p:graphicFrame>
      <p:sp>
        <p:nvSpPr>
          <p:cNvPr id="13" name="Rectangle 12"/>
          <p:cNvSpPr/>
          <p:nvPr/>
        </p:nvSpPr>
        <p:spPr>
          <a:xfrm>
            <a:off x="3700488" y="1967404"/>
            <a:ext cx="8572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=</a:t>
            </a:r>
          </a:p>
        </p:txBody>
      </p:sp>
      <p:sp>
        <p:nvSpPr>
          <p:cNvPr id="14" name="Left Arrow Callout 13"/>
          <p:cNvSpPr/>
          <p:nvPr/>
        </p:nvSpPr>
        <p:spPr>
          <a:xfrm>
            <a:off x="6947422" y="1466480"/>
            <a:ext cx="4357686" cy="1214446"/>
          </a:xfrm>
          <a:prstGeom prst="leftArrowCallout">
            <a:avLst>
              <a:gd name="adj1" fmla="val 22683"/>
              <a:gd name="adj2" fmla="val 25000"/>
              <a:gd name="adj3" fmla="val 25000"/>
              <a:gd name="adj4" fmla="val 86798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14 is 2 times 7</a:t>
            </a:r>
          </a:p>
          <a:p>
            <a:pPr algn="ctr"/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So, the missing numerator must be 2 times 3.</a:t>
            </a:r>
          </a:p>
          <a:p>
            <a:pPr algn="ctr"/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3x2=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43135" y="1678446"/>
            <a:ext cx="1214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  2</a:t>
            </a:r>
            <a:endParaRPr lang="en-US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Curved Up Arrow 16"/>
          <p:cNvSpPr/>
          <p:nvPr/>
        </p:nvSpPr>
        <p:spPr>
          <a:xfrm>
            <a:off x="842968" y="4312688"/>
            <a:ext cx="1313378" cy="218365"/>
          </a:xfrm>
          <a:prstGeom prst="curvedUp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428252" y="3602370"/>
            <a:ext cx="10001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=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8786" y="3884924"/>
            <a:ext cx="1214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  6</a:t>
            </a:r>
            <a:endParaRPr lang="en-US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628786" y="3384858"/>
            <a:ext cx="1214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itchFamily="34" charset="0"/>
                <a:cs typeface="Arial" pitchFamily="34" charset="0"/>
              </a:rPr>
              <a:t>x  6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21" name="Object 5"/>
          <p:cNvGraphicFramePr>
            <a:graphicFrameLocks noChangeAspect="1"/>
          </p:cNvGraphicFramePr>
          <p:nvPr/>
        </p:nvGraphicFramePr>
        <p:xfrm>
          <a:off x="3055333" y="3316619"/>
          <a:ext cx="547687" cy="1000125"/>
        </p:xfrm>
        <a:graphic>
          <a:graphicData uri="http://schemas.openxmlformats.org/presentationml/2006/ole">
            <p:oleObj spid="_x0000_s2071" name="Equation" r:id="rId6" imgW="215640" imgH="393480" progId="Equation.3">
              <p:embed/>
            </p:oleObj>
          </a:graphicData>
        </a:graphic>
      </p:graphicFrame>
      <p:graphicFrame>
        <p:nvGraphicFramePr>
          <p:cNvPr id="22" name="Object 8"/>
          <p:cNvGraphicFramePr>
            <a:graphicFrameLocks noChangeAspect="1"/>
          </p:cNvGraphicFramePr>
          <p:nvPr/>
        </p:nvGraphicFramePr>
        <p:xfrm>
          <a:off x="633448" y="3380096"/>
          <a:ext cx="428628" cy="1000133"/>
        </p:xfrm>
        <a:graphic>
          <a:graphicData uri="http://schemas.openxmlformats.org/presentationml/2006/ole">
            <p:oleObj spid="_x0000_s2072" name="Equation" r:id="rId7" imgW="139680" imgH="393480" progId="Equation.3">
              <p:embed/>
            </p:oleObj>
          </a:graphicData>
        </a:graphic>
      </p:graphicFrame>
      <p:sp>
        <p:nvSpPr>
          <p:cNvPr id="23" name="Curved Down Arrow 22"/>
          <p:cNvSpPr/>
          <p:nvPr/>
        </p:nvSpPr>
        <p:spPr>
          <a:xfrm>
            <a:off x="842968" y="3002502"/>
            <a:ext cx="1357322" cy="310917"/>
          </a:xfrm>
          <a:prstGeom prst="curved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24" name="Object 5"/>
          <p:cNvGraphicFramePr>
            <a:graphicFrameLocks noChangeAspect="1"/>
          </p:cNvGraphicFramePr>
          <p:nvPr/>
        </p:nvGraphicFramePr>
        <p:xfrm>
          <a:off x="4209434" y="3269114"/>
          <a:ext cx="798513" cy="1066800"/>
        </p:xfrm>
        <a:graphic>
          <a:graphicData uri="http://schemas.openxmlformats.org/presentationml/2006/ole">
            <p:oleObj spid="_x0000_s2073" name="Equation" r:id="rId8" imgW="215640" imgH="393480" progId="Equation.3">
              <p:embed/>
            </p:oleObj>
          </a:graphicData>
        </a:graphic>
      </p:graphicFrame>
      <p:sp>
        <p:nvSpPr>
          <p:cNvPr id="25" name="Rectangle 24"/>
          <p:cNvSpPr/>
          <p:nvPr/>
        </p:nvSpPr>
        <p:spPr>
          <a:xfrm>
            <a:off x="3571260" y="3316618"/>
            <a:ext cx="7858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=</a:t>
            </a:r>
          </a:p>
        </p:txBody>
      </p:sp>
      <p:sp>
        <p:nvSpPr>
          <p:cNvPr id="26" name="Left Arrow Callout 25"/>
          <p:cNvSpPr/>
          <p:nvPr/>
        </p:nvSpPr>
        <p:spPr>
          <a:xfrm>
            <a:off x="6917768" y="3194640"/>
            <a:ext cx="4357686" cy="1214446"/>
          </a:xfrm>
          <a:prstGeom prst="leftArrowCallout">
            <a:avLst>
              <a:gd name="adj1" fmla="val 22683"/>
              <a:gd name="adj2" fmla="val 25000"/>
              <a:gd name="adj3" fmla="val 25000"/>
              <a:gd name="adj4" fmla="val 86798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30 is 6 times 5</a:t>
            </a:r>
          </a:p>
          <a:p>
            <a:pPr algn="ctr"/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So, the missing numerator must be 6 times 9.</a:t>
            </a:r>
          </a:p>
          <a:p>
            <a:pPr algn="ctr"/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9x6= 54</a:t>
            </a:r>
          </a:p>
        </p:txBody>
      </p:sp>
      <p:graphicFrame>
        <p:nvGraphicFramePr>
          <p:cNvPr id="27" name="Object 26"/>
          <p:cNvGraphicFramePr>
            <a:graphicFrameLocks noChangeAspect="1"/>
          </p:cNvGraphicFramePr>
          <p:nvPr/>
        </p:nvGraphicFramePr>
        <p:xfrm>
          <a:off x="558353" y="4982922"/>
          <a:ext cx="1355725" cy="1257300"/>
        </p:xfrm>
        <a:graphic>
          <a:graphicData uri="http://schemas.openxmlformats.org/presentationml/2006/ole">
            <p:oleObj spid="_x0000_s2074" name="Equation" r:id="rId9" imgW="342720" imgH="393480" progId="Equation.3">
              <p:embed/>
            </p:oleObj>
          </a:graphicData>
        </a:graphic>
      </p:graphicFrame>
      <p:graphicFrame>
        <p:nvGraphicFramePr>
          <p:cNvPr id="28" name="Object 11"/>
          <p:cNvGraphicFramePr>
            <a:graphicFrameLocks noChangeAspect="1"/>
          </p:cNvGraphicFramePr>
          <p:nvPr/>
        </p:nvGraphicFramePr>
        <p:xfrm>
          <a:off x="4236588" y="4982934"/>
          <a:ext cx="428628" cy="1214446"/>
        </p:xfrm>
        <a:graphic>
          <a:graphicData uri="http://schemas.openxmlformats.org/presentationml/2006/ole">
            <p:oleObj spid="_x0000_s2075" name="Equation" r:id="rId10" imgW="152280" imgH="393480" progId="Equation.3">
              <p:embed/>
            </p:oleObj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950572" y="4982934"/>
            <a:ext cx="1214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itchFamily="34" charset="0"/>
                <a:cs typeface="Arial" pitchFamily="34" charset="0"/>
              </a:rPr>
              <a:t>÷  5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879134" y="5625876"/>
            <a:ext cx="1214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÷  5</a:t>
            </a:r>
            <a:endParaRPr lang="en-US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Curved Up Arrow 30"/>
          <p:cNvSpPr/>
          <p:nvPr/>
        </p:nvSpPr>
        <p:spPr>
          <a:xfrm>
            <a:off x="807564" y="6125942"/>
            <a:ext cx="1571636" cy="179319"/>
          </a:xfrm>
          <a:prstGeom prst="curvedUp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Curved Down Arrow 31"/>
          <p:cNvSpPr/>
          <p:nvPr/>
        </p:nvSpPr>
        <p:spPr>
          <a:xfrm>
            <a:off x="807564" y="4913190"/>
            <a:ext cx="1643074" cy="212620"/>
          </a:xfrm>
          <a:prstGeom prst="curved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33" name="Object 12"/>
          <p:cNvGraphicFramePr>
            <a:graphicFrameLocks noChangeAspect="1"/>
          </p:cNvGraphicFramePr>
          <p:nvPr/>
        </p:nvGraphicFramePr>
        <p:xfrm>
          <a:off x="3103115" y="5054359"/>
          <a:ext cx="385763" cy="1000125"/>
        </p:xfrm>
        <a:graphic>
          <a:graphicData uri="http://schemas.openxmlformats.org/presentationml/2006/ole">
            <p:oleObj spid="_x0000_s2076" name="Equation" r:id="rId11" imgW="152280" imgH="393480" progId="Equation.3">
              <p:embed/>
            </p:oleObj>
          </a:graphicData>
        </a:graphic>
      </p:graphicFrame>
      <p:sp>
        <p:nvSpPr>
          <p:cNvPr id="34" name="Rectangle 33"/>
          <p:cNvSpPr/>
          <p:nvPr/>
        </p:nvSpPr>
        <p:spPr>
          <a:xfrm>
            <a:off x="3522208" y="5411562"/>
            <a:ext cx="7858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=</a:t>
            </a:r>
          </a:p>
        </p:txBody>
      </p:sp>
      <p:sp>
        <p:nvSpPr>
          <p:cNvPr id="35" name="Left Arrow Callout 34"/>
          <p:cNvSpPr/>
          <p:nvPr/>
        </p:nvSpPr>
        <p:spPr>
          <a:xfrm>
            <a:off x="6868735" y="4982938"/>
            <a:ext cx="4357686" cy="1214446"/>
          </a:xfrm>
          <a:prstGeom prst="leftArrowCallout">
            <a:avLst>
              <a:gd name="adj1" fmla="val 22683"/>
              <a:gd name="adj2" fmla="val 25000"/>
              <a:gd name="adj3" fmla="val 25000"/>
              <a:gd name="adj4" fmla="val 86798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30 ÷ 5 = 6</a:t>
            </a:r>
          </a:p>
          <a:p>
            <a:pPr algn="ctr"/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So, We divide 45 by 5.</a:t>
            </a:r>
          </a:p>
          <a:p>
            <a:pPr algn="ctr"/>
            <a:r>
              <a:rPr lang="en-US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45 ÷ 5 = 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10" grpId="0" animBg="1"/>
      <p:bldP spid="14" grpId="0" animBg="1"/>
      <p:bldP spid="16" grpId="0"/>
      <p:bldP spid="17" grpId="0" animBg="1"/>
      <p:bldP spid="19" grpId="0"/>
      <p:bldP spid="20" grpId="0"/>
      <p:bldP spid="23" grpId="0" animBg="1"/>
      <p:bldP spid="26" grpId="0" animBg="1"/>
      <p:bldP spid="29" grpId="0"/>
      <p:bldP spid="30" grpId="0"/>
      <p:bldP spid="31" grpId="0" animBg="1"/>
      <p:bldP spid="32" grpId="0" animBg="1"/>
      <p:bldP spid="3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96370" y="389930"/>
            <a:ext cx="1054517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CHECK FOR THE EQUIVALENCE</a:t>
            </a:r>
          </a:p>
          <a:p>
            <a:pPr algn="ctr"/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OF TWO FRACTIONS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0" y="1524001"/>
            <a:ext cx="557216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Arial" pitchFamily="34" charset="0"/>
                <a:cs typeface="Arial" pitchFamily="34" charset="0"/>
              </a:rPr>
              <a:t>Is         equivalent to     </a:t>
            </a:r>
          </a:p>
        </p:txBody>
      </p:sp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4143375" y="1419367"/>
          <a:ext cx="357188" cy="892033"/>
        </p:xfrm>
        <a:graphic>
          <a:graphicData uri="http://schemas.openxmlformats.org/presentationml/2006/ole">
            <p:oleObj spid="_x0000_s3082" name="Equation" r:id="rId3" imgW="152280" imgH="393480" progId="Equation.3">
              <p:embed/>
            </p:oleObj>
          </a:graphicData>
        </a:graphic>
      </p:graphicFrame>
      <p:graphicFrame>
        <p:nvGraphicFramePr>
          <p:cNvPr id="3075" name="Object 3"/>
          <p:cNvGraphicFramePr>
            <a:graphicFrameLocks noChangeAspect="1"/>
          </p:cNvGraphicFramePr>
          <p:nvPr/>
        </p:nvGraphicFramePr>
        <p:xfrm>
          <a:off x="7358063" y="1370013"/>
          <a:ext cx="598582" cy="887422"/>
        </p:xfrm>
        <a:graphic>
          <a:graphicData uri="http://schemas.openxmlformats.org/presentationml/2006/ole">
            <p:oleObj spid="_x0000_s3083" name="Equation" r:id="rId4" imgW="203040" imgH="393480" progId="Equation.3">
              <p:embed/>
            </p:oleObj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/>
        </p:nvGraphicFramePr>
        <p:xfrm>
          <a:off x="914400" y="2514600"/>
          <a:ext cx="714362" cy="1226638"/>
        </p:xfrm>
        <a:graphic>
          <a:graphicData uri="http://schemas.openxmlformats.org/presentationml/2006/ole">
            <p:oleObj spid="_x0000_s3084" name="Equation" r:id="rId5" imgW="152280" imgH="393480" progId="Equation.3">
              <p:embed/>
            </p:oleObj>
          </a:graphicData>
        </a:graphic>
      </p:graphicFrame>
      <p:graphicFrame>
        <p:nvGraphicFramePr>
          <p:cNvPr id="9" name="Object 6"/>
          <p:cNvGraphicFramePr>
            <a:graphicFrameLocks noChangeAspect="1"/>
          </p:cNvGraphicFramePr>
          <p:nvPr/>
        </p:nvGraphicFramePr>
        <p:xfrm>
          <a:off x="2628893" y="2528424"/>
          <a:ext cx="642942" cy="1245064"/>
        </p:xfrm>
        <a:graphic>
          <a:graphicData uri="http://schemas.openxmlformats.org/presentationml/2006/ole">
            <p:oleObj spid="_x0000_s3085" name="Equation" r:id="rId6" imgW="203040" imgH="393480" progId="Equation.3">
              <p:embed/>
            </p:oleObj>
          </a:graphicData>
        </a:graphic>
      </p:graphicFrame>
      <p:cxnSp>
        <p:nvCxnSpPr>
          <p:cNvPr id="10" name="Straight Arrow Connector 9"/>
          <p:cNvCxnSpPr/>
          <p:nvPr/>
        </p:nvCxnSpPr>
        <p:spPr>
          <a:xfrm>
            <a:off x="1414447" y="2844794"/>
            <a:ext cx="1143008" cy="64294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1343009" y="2916232"/>
            <a:ext cx="1214446" cy="571504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Flowchart: Process 11"/>
          <p:cNvSpPr/>
          <p:nvPr/>
        </p:nvSpPr>
        <p:spPr>
          <a:xfrm>
            <a:off x="3110552" y="4343400"/>
            <a:ext cx="8382000" cy="1500198"/>
          </a:xfrm>
          <a:prstGeom prst="flowChartProcess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Arial" pitchFamily="34" charset="0"/>
                <a:cs typeface="Arial" pitchFamily="34" charset="0"/>
              </a:rPr>
              <a:t>Cross product of 2x15 = 30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Arial" pitchFamily="34" charset="0"/>
                <a:cs typeface="Arial" pitchFamily="34" charset="0"/>
              </a:rPr>
              <a:t>Cross product of 3x10 = 30</a:t>
            </a:r>
          </a:p>
        </p:txBody>
      </p:sp>
      <p:sp>
        <p:nvSpPr>
          <p:cNvPr id="13" name="Right Brace 12"/>
          <p:cNvSpPr/>
          <p:nvPr/>
        </p:nvSpPr>
        <p:spPr>
          <a:xfrm>
            <a:off x="8534400" y="4648200"/>
            <a:ext cx="533400" cy="99060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9110188" y="4950304"/>
            <a:ext cx="23246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They are same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184812" y="446543"/>
            <a:ext cx="21725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909" y="1050877"/>
            <a:ext cx="1108198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latin typeface="Arial" pitchFamily="34" charset="0"/>
              <a:cs typeface="Arial" pitchFamily="34" charset="0"/>
            </a:endParaRP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  <a:p>
            <a:r>
              <a:rPr lang="en-US" sz="2400" dirty="0">
                <a:latin typeface="Arial" pitchFamily="34" charset="0"/>
                <a:cs typeface="Arial" pitchFamily="34" charset="0"/>
              </a:rPr>
              <a:t>  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1158922" y="992329"/>
          <a:ext cx="874594" cy="753123"/>
        </p:xfrm>
        <a:graphic>
          <a:graphicData uri="http://schemas.openxmlformats.org/presentationml/2006/ole">
            <p:oleObj spid="_x0000_s4114" name="Equation" r:id="rId3" imgW="457200" imgH="393480" progId="Equation.3">
              <p:embed/>
            </p:oleObj>
          </a:graphicData>
        </a:graphic>
      </p:graphicFrame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1255713" y="2409825"/>
          <a:ext cx="922337" cy="752475"/>
        </p:xfrm>
        <a:graphic>
          <a:graphicData uri="http://schemas.openxmlformats.org/presentationml/2006/ole">
            <p:oleObj spid="_x0000_s4115" name="Equation" r:id="rId4" imgW="482400" imgH="393480" progId="Equation.3">
              <p:embed/>
            </p:oleObj>
          </a:graphicData>
        </a:graphic>
      </p:graphicFrame>
      <p:graphicFrame>
        <p:nvGraphicFramePr>
          <p:cNvPr id="4100" name="Object 4"/>
          <p:cNvGraphicFramePr>
            <a:graphicFrameLocks noChangeAspect="1"/>
          </p:cNvGraphicFramePr>
          <p:nvPr/>
        </p:nvGraphicFramePr>
        <p:xfrm>
          <a:off x="1295400" y="3760788"/>
          <a:ext cx="898525" cy="752475"/>
        </p:xfrm>
        <a:graphic>
          <a:graphicData uri="http://schemas.openxmlformats.org/presentationml/2006/ole">
            <p:oleObj spid="_x0000_s4116" name="Equation" r:id="rId5" imgW="469800" imgH="393480" progId="Equation.3">
              <p:embed/>
            </p:oleObj>
          </a:graphicData>
        </a:graphic>
      </p:graphicFrame>
      <p:graphicFrame>
        <p:nvGraphicFramePr>
          <p:cNvPr id="4101" name="Object 5"/>
          <p:cNvGraphicFramePr>
            <a:graphicFrameLocks noChangeAspect="1"/>
          </p:cNvGraphicFramePr>
          <p:nvPr/>
        </p:nvGraphicFramePr>
        <p:xfrm>
          <a:off x="1362075" y="5259388"/>
          <a:ext cx="922338" cy="752475"/>
        </p:xfrm>
        <a:graphic>
          <a:graphicData uri="http://schemas.openxmlformats.org/presentationml/2006/ole">
            <p:oleObj spid="_x0000_s4117" name="Equation" r:id="rId6" imgW="482400" imgH="393480" progId="Equation.3">
              <p:embed/>
            </p:oleObj>
          </a:graphicData>
        </a:graphic>
      </p:graphicFrame>
      <p:graphicFrame>
        <p:nvGraphicFramePr>
          <p:cNvPr id="4102" name="Object 6"/>
          <p:cNvGraphicFramePr>
            <a:graphicFrameLocks noChangeAspect="1"/>
          </p:cNvGraphicFramePr>
          <p:nvPr/>
        </p:nvGraphicFramePr>
        <p:xfrm>
          <a:off x="4567238" y="903288"/>
          <a:ext cx="922337" cy="752475"/>
        </p:xfrm>
        <a:graphic>
          <a:graphicData uri="http://schemas.openxmlformats.org/presentationml/2006/ole">
            <p:oleObj spid="_x0000_s4118" name="Equation" r:id="rId7" imgW="482400" imgH="393480" progId="Equation.3">
              <p:embed/>
            </p:oleObj>
          </a:graphicData>
        </a:graphic>
      </p:graphicFrame>
      <p:graphicFrame>
        <p:nvGraphicFramePr>
          <p:cNvPr id="4103" name="Object 7"/>
          <p:cNvGraphicFramePr>
            <a:graphicFrameLocks noChangeAspect="1"/>
          </p:cNvGraphicFramePr>
          <p:nvPr/>
        </p:nvGraphicFramePr>
        <p:xfrm>
          <a:off x="4621213" y="2390775"/>
          <a:ext cx="898525" cy="752475"/>
        </p:xfrm>
        <a:graphic>
          <a:graphicData uri="http://schemas.openxmlformats.org/presentationml/2006/ole">
            <p:oleObj spid="_x0000_s4119" name="Equation" r:id="rId8" imgW="469800" imgH="393480" progId="Equation.3">
              <p:embed/>
            </p:oleObj>
          </a:graphicData>
        </a:graphic>
      </p:graphicFrame>
      <p:graphicFrame>
        <p:nvGraphicFramePr>
          <p:cNvPr id="4104" name="Object 8"/>
          <p:cNvGraphicFramePr>
            <a:graphicFrameLocks noChangeAspect="1"/>
          </p:cNvGraphicFramePr>
          <p:nvPr/>
        </p:nvGraphicFramePr>
        <p:xfrm>
          <a:off x="4613275" y="3878263"/>
          <a:ext cx="1020763" cy="752475"/>
        </p:xfrm>
        <a:graphic>
          <a:graphicData uri="http://schemas.openxmlformats.org/presentationml/2006/ole">
            <p:oleObj spid="_x0000_s4120" name="Equation" r:id="rId9" imgW="533160" imgH="393480" progId="Equation.3">
              <p:embed/>
            </p:oleObj>
          </a:graphicData>
        </a:graphic>
      </p:graphicFrame>
      <p:graphicFrame>
        <p:nvGraphicFramePr>
          <p:cNvPr id="4105" name="Object 9"/>
          <p:cNvGraphicFramePr>
            <a:graphicFrameLocks noChangeAspect="1"/>
          </p:cNvGraphicFramePr>
          <p:nvPr/>
        </p:nvGraphicFramePr>
        <p:xfrm>
          <a:off x="4741863" y="5365750"/>
          <a:ext cx="900112" cy="752475"/>
        </p:xfrm>
        <a:graphic>
          <a:graphicData uri="http://schemas.openxmlformats.org/presentationml/2006/ole">
            <p:oleObj spid="_x0000_s4121" name="Equation" r:id="rId10" imgW="469800" imgH="393480" progId="Equation.3">
              <p:embed/>
            </p:oleObj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81841" y="378304"/>
            <a:ext cx="1036416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LIKE FRACTION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392907" y="935841"/>
            <a:ext cx="900297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Arial" pitchFamily="34" charset="0"/>
                <a:cs typeface="Arial" pitchFamily="34" charset="0"/>
              </a:rPr>
              <a:t>Fractions having the same denominators are called </a:t>
            </a:r>
          </a:p>
          <a:p>
            <a:pPr algn="ctr"/>
            <a:r>
              <a:rPr lang="en-US" sz="2400" b="1" dirty="0">
                <a:latin typeface="Arial" pitchFamily="34" charset="0"/>
                <a:cs typeface="Arial" pitchFamily="34" charset="0"/>
              </a:rPr>
              <a:t>Like Fractions.</a:t>
            </a:r>
          </a:p>
        </p:txBody>
      </p:sp>
      <p:graphicFrame>
        <p:nvGraphicFramePr>
          <p:cNvPr id="21506" name="Object 2"/>
          <p:cNvGraphicFramePr>
            <a:graphicFrameLocks noChangeAspect="1"/>
          </p:cNvGraphicFramePr>
          <p:nvPr/>
        </p:nvGraphicFramePr>
        <p:xfrm>
          <a:off x="7656394" y="1687204"/>
          <a:ext cx="3500015" cy="763896"/>
        </p:xfrm>
        <a:graphic>
          <a:graphicData uri="http://schemas.openxmlformats.org/presentationml/2006/ole">
            <p:oleObj spid="_x0000_s21512" name="Equation" r:id="rId3" imgW="1346040" imgH="393480" progId="Equation.3">
              <p:embed/>
            </p:oleObj>
          </a:graphicData>
        </a:graphic>
      </p:graphicFrame>
      <p:sp>
        <p:nvSpPr>
          <p:cNvPr id="7" name="Rectangle 6"/>
          <p:cNvSpPr/>
          <p:nvPr/>
        </p:nvSpPr>
        <p:spPr>
          <a:xfrm>
            <a:off x="434972" y="2333725"/>
            <a:ext cx="522611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Ar."/>
              </a:rPr>
              <a:t>Addition and Subtraction of Like Fraction</a:t>
            </a:r>
          </a:p>
        </p:txBody>
      </p:sp>
      <p:graphicFrame>
        <p:nvGraphicFramePr>
          <p:cNvPr id="21507" name="Object 3"/>
          <p:cNvGraphicFramePr>
            <a:graphicFrameLocks noChangeAspect="1"/>
          </p:cNvGraphicFramePr>
          <p:nvPr/>
        </p:nvGraphicFramePr>
        <p:xfrm>
          <a:off x="596900" y="2921000"/>
          <a:ext cx="1955800" cy="1101725"/>
        </p:xfrm>
        <a:graphic>
          <a:graphicData uri="http://schemas.openxmlformats.org/presentationml/2006/ole">
            <p:oleObj spid="_x0000_s21513" name="Equation" r:id="rId4" imgW="698400" imgH="393480" progId="Equation.3">
              <p:embed/>
            </p:oleObj>
          </a:graphicData>
        </a:graphic>
      </p:graphicFrame>
      <p:sp>
        <p:nvSpPr>
          <p:cNvPr id="9" name="Rectangle 8"/>
          <p:cNvSpPr/>
          <p:nvPr/>
        </p:nvSpPr>
        <p:spPr>
          <a:xfrm>
            <a:off x="2941471" y="3006700"/>
            <a:ext cx="1701422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Ar."/>
              </a:rPr>
              <a:t>Add the Numerators</a:t>
            </a:r>
          </a:p>
          <a:p>
            <a:pPr algn="ctr"/>
            <a:r>
              <a:rPr lang="en-US" b="1" dirty="0">
                <a:latin typeface="Ar."/>
              </a:rPr>
              <a:t>5 + 9 =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7448" y="4104207"/>
            <a:ext cx="3421038" cy="92333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Ar."/>
              </a:rPr>
              <a:t>Denominators are same,</a:t>
            </a:r>
          </a:p>
          <a:p>
            <a:pPr algn="ctr"/>
            <a:r>
              <a:rPr lang="en-US" b="1" dirty="0">
                <a:latin typeface="Ar."/>
              </a:rPr>
              <a:t>So we can add the numerators</a:t>
            </a:r>
          </a:p>
        </p:txBody>
      </p:sp>
      <p:graphicFrame>
        <p:nvGraphicFramePr>
          <p:cNvPr id="21508" name="Object 4"/>
          <p:cNvGraphicFramePr>
            <a:graphicFrameLocks noChangeAspect="1"/>
          </p:cNvGraphicFramePr>
          <p:nvPr/>
        </p:nvGraphicFramePr>
        <p:xfrm>
          <a:off x="6113463" y="2870200"/>
          <a:ext cx="2098675" cy="1101725"/>
        </p:xfrm>
        <a:graphic>
          <a:graphicData uri="http://schemas.openxmlformats.org/presentationml/2006/ole">
            <p:oleObj spid="_x0000_s21514" name="Equation" r:id="rId5" imgW="749160" imgH="393480" progId="Equation.3">
              <p:embed/>
            </p:oleObj>
          </a:graphicData>
        </a:graphic>
      </p:graphicFrame>
      <p:sp>
        <p:nvSpPr>
          <p:cNvPr id="12" name="Rectangle 11"/>
          <p:cNvSpPr/>
          <p:nvPr/>
        </p:nvSpPr>
        <p:spPr>
          <a:xfrm>
            <a:off x="9045054" y="2919694"/>
            <a:ext cx="2156346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Ar."/>
              </a:rPr>
              <a:t>Subtract the Numerators</a:t>
            </a:r>
          </a:p>
          <a:p>
            <a:pPr algn="ctr"/>
            <a:r>
              <a:rPr lang="en-US" b="1" dirty="0">
                <a:latin typeface="Ar."/>
              </a:rPr>
              <a:t>15 – 12 =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31630" y="4030849"/>
            <a:ext cx="3148083" cy="92333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Ar."/>
              </a:rPr>
              <a:t>Denominators are same,</a:t>
            </a:r>
          </a:p>
          <a:p>
            <a:pPr algn="ctr"/>
            <a:r>
              <a:rPr lang="en-US" b="1" dirty="0">
                <a:latin typeface="Ar."/>
              </a:rPr>
              <a:t>So we can subtract the numerators</a:t>
            </a:r>
          </a:p>
        </p:txBody>
      </p:sp>
      <p:pic>
        <p:nvPicPr>
          <p:cNvPr id="15" name="Picture 14" descr="like fractions.png"/>
          <p:cNvPicPr>
            <a:picLocks noChangeAspect="1"/>
          </p:cNvPicPr>
          <p:nvPr/>
        </p:nvPicPr>
        <p:blipFill>
          <a:blip r:embed="rId6"/>
          <a:srcRect b="12788"/>
          <a:stretch>
            <a:fillRect/>
          </a:stretch>
        </p:blipFill>
        <p:spPr>
          <a:xfrm>
            <a:off x="713353" y="1105658"/>
            <a:ext cx="1890147" cy="105236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47700" y="5329535"/>
            <a:ext cx="10693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Ar."/>
              </a:rPr>
              <a:t>Q. The fractions with same denominator are called as _____________ fractions.     (1 Mark)</a:t>
            </a:r>
          </a:p>
          <a:p>
            <a:pPr marL="514350" indent="-514350">
              <a:buAutoNum type="romanLcParenBoth"/>
            </a:pPr>
            <a:r>
              <a:rPr lang="en-US" dirty="0">
                <a:latin typeface="Ar."/>
              </a:rPr>
              <a:t>Proper	(ii)	 Like	(iii)	Unit	(iv)	Unlike</a:t>
            </a:r>
          </a:p>
          <a:p>
            <a:pPr marL="514350" indent="-514350"/>
            <a:r>
              <a:rPr lang="en-US" b="1" dirty="0" err="1">
                <a:solidFill>
                  <a:srgbClr val="0000FF"/>
                </a:solidFill>
                <a:latin typeface="Ar."/>
              </a:rPr>
              <a:t>Ans</a:t>
            </a:r>
            <a:r>
              <a:rPr lang="en-US" b="1" dirty="0">
                <a:solidFill>
                  <a:srgbClr val="0000FF"/>
                </a:solidFill>
                <a:latin typeface="Ar."/>
              </a:rPr>
              <a:t>: Like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24311" y="391951"/>
            <a:ext cx="1046263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UNLIKE FRACTION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6979" y="1045023"/>
            <a:ext cx="1084996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Arial" pitchFamily="34" charset="0"/>
                <a:cs typeface="Arial" pitchFamily="34" charset="0"/>
              </a:rPr>
              <a:t>Fractions having the different denominators are called </a:t>
            </a:r>
          </a:p>
          <a:p>
            <a:pPr algn="ctr"/>
            <a:r>
              <a:rPr lang="en-US" sz="2800" b="1" dirty="0">
                <a:latin typeface="Arial" pitchFamily="34" charset="0"/>
                <a:cs typeface="Arial" pitchFamily="34" charset="0"/>
              </a:rPr>
              <a:t>Unlike Fractions.</a:t>
            </a:r>
          </a:p>
        </p:txBody>
      </p:sp>
      <p:graphicFrame>
        <p:nvGraphicFramePr>
          <p:cNvPr id="22530" name="Object 3"/>
          <p:cNvGraphicFramePr>
            <a:graphicFrameLocks noChangeAspect="1"/>
          </p:cNvGraphicFramePr>
          <p:nvPr/>
        </p:nvGraphicFramePr>
        <p:xfrm>
          <a:off x="3562066" y="2174544"/>
          <a:ext cx="5895833" cy="1214438"/>
        </p:xfrm>
        <a:graphic>
          <a:graphicData uri="http://schemas.openxmlformats.org/presentationml/2006/ole">
            <p:oleObj spid="_x0000_s22532" name="Equation" r:id="rId3" imgW="1498320" imgH="393480" progId="Equation.3">
              <p:embed/>
            </p:oleObj>
          </a:graphicData>
        </a:graphic>
      </p:graphicFrame>
      <p:pic>
        <p:nvPicPr>
          <p:cNvPr id="6" name="Picture 5" descr="unlike Fractions.png"/>
          <p:cNvPicPr>
            <a:picLocks noChangeAspect="1"/>
          </p:cNvPicPr>
          <p:nvPr/>
        </p:nvPicPr>
        <p:blipFill>
          <a:blip r:embed="rId4"/>
          <a:srcRect t="25478"/>
          <a:stretch>
            <a:fillRect/>
          </a:stretch>
        </p:blipFill>
        <p:spPr>
          <a:xfrm>
            <a:off x="3589361" y="3480177"/>
            <a:ext cx="5936776" cy="235914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109" y="473838"/>
            <a:ext cx="97666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PROPER FRACTION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05303" y="1111239"/>
            <a:ext cx="1128669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Arial" pitchFamily="34" charset="0"/>
                <a:cs typeface="Arial" pitchFamily="34" charset="0"/>
              </a:rPr>
              <a:t>Fractions where numerators are smaller than </a:t>
            </a:r>
          </a:p>
          <a:p>
            <a:pPr algn="ctr"/>
            <a:r>
              <a:rPr lang="en-US" sz="2800" b="1" dirty="0">
                <a:latin typeface="Arial" pitchFamily="34" charset="0"/>
                <a:cs typeface="Arial" pitchFamily="34" charset="0"/>
              </a:rPr>
              <a:t>denominators are called </a:t>
            </a:r>
          </a:p>
          <a:p>
            <a:pPr algn="ctr"/>
            <a:r>
              <a:rPr lang="en-US" sz="2800" b="1" dirty="0">
                <a:latin typeface="Arial" pitchFamily="34" charset="0"/>
                <a:cs typeface="Arial" pitchFamily="34" charset="0"/>
              </a:rPr>
              <a:t>Proper Fractions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63403" y="4609110"/>
            <a:ext cx="84331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Value Of a Proper Fraction is always less than 1.</a:t>
            </a:r>
          </a:p>
        </p:txBody>
      </p:sp>
      <p:graphicFrame>
        <p:nvGraphicFramePr>
          <p:cNvPr id="39938" name="Object 2"/>
          <p:cNvGraphicFramePr>
            <a:graphicFrameLocks noChangeAspect="1"/>
          </p:cNvGraphicFramePr>
          <p:nvPr/>
        </p:nvGraphicFramePr>
        <p:xfrm>
          <a:off x="2518226" y="5236901"/>
          <a:ext cx="7038975" cy="1071563"/>
        </p:xfrm>
        <a:graphic>
          <a:graphicData uri="http://schemas.openxmlformats.org/presentationml/2006/ole">
            <p:oleObj spid="_x0000_s39940" name="Equation" r:id="rId3" imgW="1523880" imgH="393480" progId="Equation.3">
              <p:embed/>
            </p:oleObj>
          </a:graphicData>
        </a:graphic>
      </p:graphicFrame>
      <p:pic>
        <p:nvPicPr>
          <p:cNvPr id="7" name="Picture 6" descr="proper Fraction.jpg"/>
          <p:cNvPicPr>
            <a:picLocks noChangeAspect="1"/>
          </p:cNvPicPr>
          <p:nvPr/>
        </p:nvPicPr>
        <p:blipFill>
          <a:blip r:embed="rId4">
            <a:lum/>
          </a:blip>
          <a:stretch>
            <a:fillRect/>
          </a:stretch>
        </p:blipFill>
        <p:spPr>
          <a:xfrm>
            <a:off x="3971499" y="2523840"/>
            <a:ext cx="4572000" cy="20208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43079" y="405600"/>
            <a:ext cx="1044386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IMPROPER FRACTION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351964" y="974761"/>
            <a:ext cx="916674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Arial" pitchFamily="34" charset="0"/>
                <a:cs typeface="Arial" pitchFamily="34" charset="0"/>
              </a:rPr>
              <a:t>Fractions where numerators are greater than denominators are called  Improper Fractions</a:t>
            </a:r>
          </a:p>
        </p:txBody>
      </p:sp>
      <p:graphicFrame>
        <p:nvGraphicFramePr>
          <p:cNvPr id="23554" name="Object 3"/>
          <p:cNvGraphicFramePr>
            <a:graphicFrameLocks noChangeAspect="1"/>
          </p:cNvGraphicFramePr>
          <p:nvPr/>
        </p:nvGraphicFramePr>
        <p:xfrm>
          <a:off x="5104263" y="1953905"/>
          <a:ext cx="6253944" cy="1214438"/>
        </p:xfrm>
        <a:graphic>
          <a:graphicData uri="http://schemas.openxmlformats.org/presentationml/2006/ole">
            <p:oleObj spid="_x0000_s23559" name="Equation" r:id="rId3" imgW="1638000" imgH="393480" progId="Equation.3">
              <p:embed/>
            </p:oleObj>
          </a:graphicData>
        </a:graphic>
      </p:graphicFrame>
      <p:sp>
        <p:nvSpPr>
          <p:cNvPr id="6" name="Rectangle 5"/>
          <p:cNvSpPr/>
          <p:nvPr/>
        </p:nvSpPr>
        <p:spPr>
          <a:xfrm>
            <a:off x="1965678" y="3857535"/>
            <a:ext cx="89525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Value Of a Proper Fraction is always greater than 1.</a:t>
            </a:r>
          </a:p>
        </p:txBody>
      </p:sp>
      <p:graphicFrame>
        <p:nvGraphicFramePr>
          <p:cNvPr id="23556" name="Object 3"/>
          <p:cNvGraphicFramePr>
            <a:graphicFrameLocks noChangeAspect="1"/>
          </p:cNvGraphicFramePr>
          <p:nvPr/>
        </p:nvGraphicFramePr>
        <p:xfrm>
          <a:off x="3224023" y="4728523"/>
          <a:ext cx="6470650" cy="888100"/>
        </p:xfrm>
        <a:graphic>
          <a:graphicData uri="http://schemas.openxmlformats.org/presentationml/2006/ole">
            <p:oleObj spid="_x0000_s23560" name="Equation" r:id="rId4" imgW="1257120" imgH="393480" progId="Equation.3">
              <p:embed/>
            </p:oleObj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20838" y="419248"/>
            <a:ext cx="103842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UNIT FRACTION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374711" y="1031375"/>
            <a:ext cx="923953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Arial" pitchFamily="34" charset="0"/>
                <a:cs typeface="Arial" pitchFamily="34" charset="0"/>
              </a:rPr>
              <a:t>Fractions having 1 in the numerator are called </a:t>
            </a:r>
          </a:p>
          <a:p>
            <a:pPr algn="ctr"/>
            <a:r>
              <a:rPr lang="en-US" sz="2800" b="1" dirty="0">
                <a:latin typeface="Arial" pitchFamily="34" charset="0"/>
                <a:cs typeface="Arial" pitchFamily="34" charset="0"/>
              </a:rPr>
              <a:t>Unit Fractions.</a:t>
            </a:r>
          </a:p>
        </p:txBody>
      </p:sp>
      <p:graphicFrame>
        <p:nvGraphicFramePr>
          <p:cNvPr id="24578" name="Object 3"/>
          <p:cNvGraphicFramePr>
            <a:graphicFrameLocks noChangeAspect="1"/>
          </p:cNvGraphicFramePr>
          <p:nvPr/>
        </p:nvGraphicFramePr>
        <p:xfrm>
          <a:off x="6103582" y="2037307"/>
          <a:ext cx="4577118" cy="956085"/>
        </p:xfrm>
        <a:graphic>
          <a:graphicData uri="http://schemas.openxmlformats.org/presentationml/2006/ole">
            <p:oleObj spid="_x0000_s24582" name="Equation" r:id="rId3" imgW="1295280" imgH="393480" progId="Equation.3">
              <p:embed/>
            </p:oleObj>
          </a:graphicData>
        </a:graphic>
      </p:graphicFrame>
      <p:pic>
        <p:nvPicPr>
          <p:cNvPr id="7" name="Picture 6" descr="unit fra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685" y="1754259"/>
            <a:ext cx="3224615" cy="14088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67819" y="4920734"/>
            <a:ext cx="755847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Ar."/>
              </a:rPr>
              <a:t>Q. What is a Unit Fraction? Give an example.                    ( 1 Mark)</a:t>
            </a:r>
          </a:p>
          <a:p>
            <a:r>
              <a:rPr lang="en-US" b="1" dirty="0" err="1">
                <a:solidFill>
                  <a:srgbClr val="0000FF"/>
                </a:solidFill>
                <a:latin typeface="Ar."/>
              </a:rPr>
              <a:t>Ans</a:t>
            </a:r>
            <a:r>
              <a:rPr lang="en-US" b="1" dirty="0">
                <a:solidFill>
                  <a:srgbClr val="0000FF"/>
                </a:solidFill>
                <a:latin typeface="Ar."/>
              </a:rPr>
              <a:t>: </a:t>
            </a:r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Fractions having 1 in the numerator are called  Unit Fractions.</a:t>
            </a:r>
          </a:p>
          <a:p>
            <a:endParaRPr lang="en-US" b="1" dirty="0">
              <a:solidFill>
                <a:srgbClr val="0000FF"/>
              </a:solidFill>
              <a:latin typeface="Ar."/>
            </a:endParaRPr>
          </a:p>
          <a:p>
            <a:endParaRPr lang="en-US" dirty="0">
              <a:solidFill>
                <a:srgbClr val="C00000"/>
              </a:solidFill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2381250" y="5567363"/>
          <a:ext cx="323850" cy="642937"/>
        </p:xfrm>
        <a:graphic>
          <a:graphicData uri="http://schemas.openxmlformats.org/presentationml/2006/ole">
            <p:oleObj spid="_x0000_s24583" name="Equation" r:id="rId5" imgW="139680" imgH="393480" progId="Equation.3">
              <p:embed/>
            </p:oleObj>
          </a:graphicData>
        </a:graphic>
      </p:graphicFrame>
      <p:sp>
        <p:nvSpPr>
          <p:cNvPr id="9" name="Rectangle 8"/>
          <p:cNvSpPr/>
          <p:nvPr/>
        </p:nvSpPr>
        <p:spPr>
          <a:xfrm>
            <a:off x="1149704" y="5581134"/>
            <a:ext cx="10926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Example: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23310" y="405599"/>
            <a:ext cx="104226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MIXED NUMBER 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2847" y="865580"/>
            <a:ext cx="1039504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Arial" pitchFamily="34" charset="0"/>
                <a:cs typeface="Arial" pitchFamily="34" charset="0"/>
              </a:rPr>
              <a:t>Improper  fraction written as a combination of a natural number and a proper fraction is called a </a:t>
            </a:r>
          </a:p>
          <a:p>
            <a:pPr algn="ctr"/>
            <a:r>
              <a:rPr lang="en-US" sz="2800" b="1" dirty="0">
                <a:latin typeface="Arial" pitchFamily="34" charset="0"/>
                <a:cs typeface="Arial" pitchFamily="34" charset="0"/>
              </a:rPr>
              <a:t>Mixed Number.</a:t>
            </a:r>
          </a:p>
        </p:txBody>
      </p:sp>
      <p:graphicFrame>
        <p:nvGraphicFramePr>
          <p:cNvPr id="25602" name="Object 3"/>
          <p:cNvGraphicFramePr>
            <a:graphicFrameLocks noChangeAspect="1"/>
          </p:cNvGraphicFramePr>
          <p:nvPr/>
        </p:nvGraphicFramePr>
        <p:xfrm>
          <a:off x="6264323" y="2374710"/>
          <a:ext cx="5145326" cy="859810"/>
        </p:xfrm>
        <a:graphic>
          <a:graphicData uri="http://schemas.openxmlformats.org/presentationml/2006/ole">
            <p:oleObj spid="_x0000_s25612" name="Equation" r:id="rId3" imgW="1384200" imgH="393480" progId="Equation.3">
              <p:embed/>
            </p:oleObj>
          </a:graphicData>
        </a:graphic>
      </p:graphicFrame>
      <p:pic>
        <p:nvPicPr>
          <p:cNvPr id="6" name="Picture 5" descr="Mixed Number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</a:blip>
          <a:srcRect r="23974" b="41267"/>
          <a:stretch>
            <a:fillRect/>
          </a:stretch>
        </p:blipFill>
        <p:spPr>
          <a:xfrm>
            <a:off x="593243" y="2456598"/>
            <a:ext cx="4093057" cy="171639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508028" y="4234934"/>
            <a:ext cx="14256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Ar."/>
              </a:rPr>
              <a:t>3 Whole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3924300" y="4183063"/>
          <a:ext cx="482600" cy="393700"/>
        </p:xfrm>
        <a:graphic>
          <a:graphicData uri="http://schemas.openxmlformats.org/presentationml/2006/ole">
            <p:oleObj spid="_x0000_s25613" name="Equation" r:id="rId5" imgW="139680" imgH="393480" progId="Equation.3">
              <p:embed/>
            </p:oleObj>
          </a:graphicData>
        </a:graphic>
      </p:graphicFrame>
      <p:graphicFrame>
        <p:nvGraphicFramePr>
          <p:cNvPr id="25604" name="Object 4"/>
          <p:cNvGraphicFramePr>
            <a:graphicFrameLocks noChangeAspect="1"/>
          </p:cNvGraphicFramePr>
          <p:nvPr/>
        </p:nvGraphicFramePr>
        <p:xfrm>
          <a:off x="7262813" y="3776662"/>
          <a:ext cx="1436687" cy="1016561"/>
        </p:xfrm>
        <a:graphic>
          <a:graphicData uri="http://schemas.openxmlformats.org/presentationml/2006/ole">
            <p:oleObj spid="_x0000_s25614" name="Equation" r:id="rId6" imgW="228600" imgH="393480" progId="Equation.3">
              <p:embed/>
            </p:oleObj>
          </a:graphicData>
        </a:graphic>
      </p:graphicFrame>
      <p:cxnSp>
        <p:nvCxnSpPr>
          <p:cNvPr id="10" name="Straight Arrow Connector 9"/>
          <p:cNvCxnSpPr/>
          <p:nvPr/>
        </p:nvCxnSpPr>
        <p:spPr>
          <a:xfrm rot="5400000">
            <a:off x="7048500" y="4940300"/>
            <a:ext cx="762000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8636794" y="4330700"/>
            <a:ext cx="519906" cy="79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31305" y="5339834"/>
            <a:ext cx="558364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14350" indent="-514350"/>
            <a:r>
              <a:rPr lang="en-US" b="1" dirty="0">
                <a:solidFill>
                  <a:srgbClr val="C00000"/>
                </a:solidFill>
                <a:latin typeface="Ar."/>
              </a:rPr>
              <a:t>Q. Convert         into mixed number.      (1 ½ Mark)</a:t>
            </a:r>
          </a:p>
          <a:p>
            <a:pPr marL="514350" indent="-514350"/>
            <a:r>
              <a:rPr lang="en-US" b="1" dirty="0" err="1">
                <a:solidFill>
                  <a:srgbClr val="0000FF"/>
                </a:solidFill>
                <a:latin typeface="Ar."/>
              </a:rPr>
              <a:t>Ans</a:t>
            </a:r>
            <a:r>
              <a:rPr lang="en-US" b="1" dirty="0">
                <a:solidFill>
                  <a:srgbClr val="0000FF"/>
                </a:solidFill>
                <a:latin typeface="Ar."/>
              </a:rPr>
              <a:t>: Natural Number Part = 5</a:t>
            </a:r>
          </a:p>
          <a:p>
            <a:pPr marL="514350" indent="-514350"/>
            <a:r>
              <a:rPr lang="en-US" b="1" dirty="0">
                <a:solidFill>
                  <a:srgbClr val="0000FF"/>
                </a:solidFill>
                <a:latin typeface="Ar."/>
              </a:rPr>
              <a:t>         Proper fraction = </a:t>
            </a:r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2127250" y="5326063"/>
          <a:ext cx="215900" cy="393700"/>
        </p:xfrm>
        <a:graphic>
          <a:graphicData uri="http://schemas.openxmlformats.org/presentationml/2006/ole">
            <p:oleObj spid="_x0000_s25615" name="Equation" r:id="rId7" imgW="215640" imgH="393480" progId="Equation.3">
              <p:embed/>
            </p:oleObj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3390900" y="5910263"/>
          <a:ext cx="317500" cy="393700"/>
        </p:xfrm>
        <a:graphic>
          <a:graphicData uri="http://schemas.openxmlformats.org/presentationml/2006/ole">
            <p:oleObj spid="_x0000_s25616" name="Equation" r:id="rId8" imgW="203040" imgH="393480" progId="Equation.3">
              <p:embed/>
            </p:oleObj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9245600" y="4183381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Proper fraction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7200" y="5389881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Natural number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19116" y="391952"/>
            <a:ext cx="1039959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FRACTION AS DIVISION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767004" y="976532"/>
            <a:ext cx="2815284" cy="338682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200" b="1" dirty="0">
              <a:solidFill>
                <a:srgbClr val="6600FF"/>
              </a:solidFill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sz="2200" b="1" dirty="0">
                <a:solidFill>
                  <a:srgbClr val="6600FF"/>
                </a:solidFill>
                <a:latin typeface="Arial" pitchFamily="34" charset="0"/>
                <a:cs typeface="Arial" pitchFamily="34" charset="0"/>
              </a:rPr>
              <a:t>Pasha has 4 marbles. He distributes these marbles</a:t>
            </a:r>
          </a:p>
          <a:p>
            <a:pPr algn="ctr"/>
            <a:r>
              <a:rPr lang="en-US" sz="2200" b="1" dirty="0">
                <a:solidFill>
                  <a:srgbClr val="6600FF"/>
                </a:solidFill>
                <a:latin typeface="Arial" pitchFamily="34" charset="0"/>
                <a:cs typeface="Arial" pitchFamily="34" charset="0"/>
              </a:rPr>
              <a:t>equally among 2 of her friends.</a:t>
            </a:r>
          </a:p>
          <a:p>
            <a:r>
              <a:rPr lang="en-US" sz="2200" b="1" dirty="0">
                <a:solidFill>
                  <a:srgbClr val="6600FF"/>
                </a:solidFill>
                <a:latin typeface="Arial" pitchFamily="34" charset="0"/>
                <a:cs typeface="Arial" pitchFamily="34" charset="0"/>
              </a:rPr>
              <a:t> </a:t>
            </a:r>
          </a:p>
          <a:p>
            <a:endParaRPr lang="en-US" sz="2200" b="1" dirty="0">
              <a:solidFill>
                <a:srgbClr val="6600FF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2200" b="1" dirty="0">
                <a:solidFill>
                  <a:srgbClr val="6600FF"/>
                </a:solidFill>
                <a:latin typeface="Arial" pitchFamily="34" charset="0"/>
                <a:cs typeface="Arial" pitchFamily="34" charset="0"/>
              </a:rPr>
              <a:t>Each gets  = 4 ÷ 2</a:t>
            </a:r>
          </a:p>
          <a:p>
            <a:r>
              <a:rPr lang="en-US" sz="2200" b="1" dirty="0">
                <a:solidFill>
                  <a:srgbClr val="6600FF"/>
                </a:solidFill>
                <a:latin typeface="Arial" pitchFamily="34" charset="0"/>
                <a:cs typeface="Arial" pitchFamily="34" charset="0"/>
              </a:rPr>
              <a:t>      	  = 2 Marbles</a:t>
            </a:r>
          </a:p>
          <a:p>
            <a:pPr algn="ctr"/>
            <a:endParaRPr lang="en-US" sz="2200" b="1" dirty="0">
              <a:solidFill>
                <a:srgbClr val="66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675480" y="990600"/>
            <a:ext cx="3000364" cy="337275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200" b="1" dirty="0">
              <a:solidFill>
                <a:srgbClr val="00B050"/>
              </a:solidFill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sz="2200" b="1" dirty="0">
                <a:solidFill>
                  <a:srgbClr val="6600FF"/>
                </a:solidFill>
                <a:latin typeface="Arial" pitchFamily="34" charset="0"/>
                <a:cs typeface="Arial" pitchFamily="34" charset="0"/>
              </a:rPr>
              <a:t>If </a:t>
            </a:r>
            <a:r>
              <a:rPr lang="en-US" sz="2200" b="1" dirty="0" err="1">
                <a:solidFill>
                  <a:srgbClr val="6600FF"/>
                </a:solidFill>
                <a:latin typeface="Arial" pitchFamily="34" charset="0"/>
                <a:cs typeface="Arial" pitchFamily="34" charset="0"/>
              </a:rPr>
              <a:t>Tobo</a:t>
            </a:r>
            <a:r>
              <a:rPr lang="en-US" sz="2200" b="1" dirty="0">
                <a:solidFill>
                  <a:srgbClr val="6600FF"/>
                </a:solidFill>
                <a:latin typeface="Arial" pitchFamily="34" charset="0"/>
                <a:cs typeface="Arial" pitchFamily="34" charset="0"/>
              </a:rPr>
              <a:t> has 2 mangoes to distribute equally among 2 of his friends.</a:t>
            </a:r>
          </a:p>
          <a:p>
            <a:r>
              <a:rPr lang="en-US" sz="2200" b="1" dirty="0">
                <a:solidFill>
                  <a:srgbClr val="6600FF"/>
                </a:solidFill>
                <a:latin typeface="Arial" pitchFamily="34" charset="0"/>
                <a:cs typeface="Arial" pitchFamily="34" charset="0"/>
              </a:rPr>
              <a:t> </a:t>
            </a:r>
          </a:p>
          <a:p>
            <a:endParaRPr lang="en-US" sz="2200" b="1" dirty="0">
              <a:solidFill>
                <a:srgbClr val="6600FF"/>
              </a:solidFill>
              <a:latin typeface="Arial" pitchFamily="34" charset="0"/>
              <a:cs typeface="Arial" pitchFamily="34" charset="0"/>
            </a:endParaRPr>
          </a:p>
          <a:p>
            <a:endParaRPr lang="en-US" sz="2200" b="1" dirty="0">
              <a:solidFill>
                <a:srgbClr val="6600FF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2200" b="1" dirty="0">
                <a:solidFill>
                  <a:srgbClr val="6600FF"/>
                </a:solidFill>
                <a:latin typeface="Arial" pitchFamily="34" charset="0"/>
                <a:cs typeface="Arial" pitchFamily="34" charset="0"/>
              </a:rPr>
              <a:t>Each gets  = 2 ÷ 2</a:t>
            </a:r>
          </a:p>
          <a:p>
            <a:r>
              <a:rPr lang="en-US" sz="2200" b="1" dirty="0">
                <a:solidFill>
                  <a:srgbClr val="6600FF"/>
                </a:solidFill>
                <a:latin typeface="Arial" pitchFamily="34" charset="0"/>
                <a:cs typeface="Arial" pitchFamily="34" charset="0"/>
              </a:rPr>
              <a:t>      	    = 1 Mango</a:t>
            </a:r>
          </a:p>
          <a:p>
            <a:pPr algn="ctr"/>
            <a:endParaRPr lang="en-US" sz="2200" b="1" dirty="0">
              <a:solidFill>
                <a:srgbClr val="00B05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55892" y="1035000"/>
            <a:ext cx="3000364" cy="332835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6600FF"/>
                </a:solidFill>
                <a:latin typeface="Arial" pitchFamily="34" charset="0"/>
                <a:cs typeface="Arial" pitchFamily="34" charset="0"/>
              </a:rPr>
              <a:t>If </a:t>
            </a:r>
            <a:r>
              <a:rPr lang="en-US" sz="2200" b="1" dirty="0" err="1">
                <a:solidFill>
                  <a:srgbClr val="6600FF"/>
                </a:solidFill>
                <a:latin typeface="Arial" pitchFamily="34" charset="0"/>
                <a:cs typeface="Arial" pitchFamily="34" charset="0"/>
              </a:rPr>
              <a:t>Dobo</a:t>
            </a:r>
            <a:r>
              <a:rPr lang="en-US" sz="2200" b="1" dirty="0">
                <a:solidFill>
                  <a:srgbClr val="6600FF"/>
                </a:solidFill>
                <a:latin typeface="Arial" pitchFamily="34" charset="0"/>
                <a:cs typeface="Arial" pitchFamily="34" charset="0"/>
              </a:rPr>
              <a:t> has 1 apple to distribute equally among 2 of his friends.</a:t>
            </a:r>
          </a:p>
          <a:p>
            <a:endParaRPr lang="en-US" sz="2200" b="1" dirty="0">
              <a:solidFill>
                <a:srgbClr val="6600FF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2200" b="1" dirty="0">
                <a:solidFill>
                  <a:srgbClr val="6600FF"/>
                </a:solidFill>
                <a:latin typeface="Arial" pitchFamily="34" charset="0"/>
                <a:cs typeface="Arial" pitchFamily="34" charset="0"/>
              </a:rPr>
              <a:t>Each gets  = 1 ÷ 2</a:t>
            </a:r>
          </a:p>
          <a:p>
            <a:r>
              <a:rPr lang="en-US" sz="2200" b="1" dirty="0">
                <a:solidFill>
                  <a:srgbClr val="6600FF"/>
                </a:solidFill>
                <a:latin typeface="Arial" pitchFamily="34" charset="0"/>
                <a:cs typeface="Arial" pitchFamily="34" charset="0"/>
              </a:rPr>
              <a:t>      	    =        Apple</a:t>
            </a:r>
          </a:p>
          <a:p>
            <a:pPr algn="ctr"/>
            <a:endParaRPr lang="en-US" sz="2200" b="1" dirty="0">
              <a:solidFill>
                <a:srgbClr val="66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746912" y="4513576"/>
            <a:ext cx="40975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Some Other Examples 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4531056" y="5096296"/>
          <a:ext cx="925736" cy="1066800"/>
        </p:xfrm>
        <a:graphic>
          <a:graphicData uri="http://schemas.openxmlformats.org/presentationml/2006/ole">
            <p:oleObj spid="_x0000_s26632" name="Equation" r:id="rId3" imgW="215640" imgH="393480" progId="Equation.3">
              <p:embed/>
            </p:oleObj>
          </a:graphicData>
        </a:graphic>
      </p:graphicFrame>
      <p:sp>
        <p:nvSpPr>
          <p:cNvPr id="10" name="Rectangle 9"/>
          <p:cNvSpPr/>
          <p:nvPr/>
        </p:nvSpPr>
        <p:spPr>
          <a:xfrm>
            <a:off x="5293056" y="5401096"/>
            <a:ext cx="15905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 = 17 ÷ 5</a:t>
            </a: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7426656" y="5172496"/>
          <a:ext cx="533400" cy="1066800"/>
        </p:xfrm>
        <a:graphic>
          <a:graphicData uri="http://schemas.openxmlformats.org/presentationml/2006/ole">
            <p:oleObj spid="_x0000_s26633" name="Equation" r:id="rId4" imgW="139680" imgH="393480" progId="Equation.3">
              <p:embed/>
            </p:oleObj>
          </a:graphicData>
        </a:graphic>
      </p:graphicFrame>
      <p:sp>
        <p:nvSpPr>
          <p:cNvPr id="12" name="Rectangle 11"/>
          <p:cNvSpPr/>
          <p:nvPr/>
        </p:nvSpPr>
        <p:spPr>
          <a:xfrm>
            <a:off x="7807656" y="5401096"/>
            <a:ext cx="13901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 = 9 ÷ 5</a:t>
            </a:r>
          </a:p>
        </p:txBody>
      </p:sp>
      <p:graphicFrame>
        <p:nvGraphicFramePr>
          <p:cNvPr id="26628" name="Object 4"/>
          <p:cNvGraphicFramePr>
            <a:graphicFrameLocks noChangeAspect="1"/>
          </p:cNvGraphicFramePr>
          <p:nvPr/>
        </p:nvGraphicFramePr>
        <p:xfrm>
          <a:off x="9318625" y="3332163"/>
          <a:ext cx="458788" cy="530153"/>
        </p:xfrm>
        <a:graphic>
          <a:graphicData uri="http://schemas.openxmlformats.org/presentationml/2006/ole">
            <p:oleObj spid="_x0000_s26634" name="Equation" r:id="rId5" imgW="152280" imgH="393480" progId="Equation.3">
              <p:embed/>
            </p:oleObj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46413" y="446542"/>
            <a:ext cx="104132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CHANGING FRACTIONS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27204" y="1074340"/>
            <a:ext cx="110324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itchFamily="34" charset="0"/>
                <a:cs typeface="Arial" pitchFamily="34" charset="0"/>
              </a:rPr>
              <a:t>1. </a:t>
            </a:r>
            <a:r>
              <a:rPr lang="en-US" sz="2400" b="1" u="sng" dirty="0">
                <a:latin typeface="Arial" pitchFamily="34" charset="0"/>
                <a:cs typeface="Arial" pitchFamily="34" charset="0"/>
              </a:rPr>
              <a:t>Improper fraction into mixed number.</a:t>
            </a:r>
          </a:p>
        </p:txBody>
      </p:sp>
      <p:sp>
        <p:nvSpPr>
          <p:cNvPr id="6" name="Arc 5"/>
          <p:cNvSpPr/>
          <p:nvPr/>
        </p:nvSpPr>
        <p:spPr>
          <a:xfrm>
            <a:off x="4417218" y="2369716"/>
            <a:ext cx="485772" cy="485772"/>
          </a:xfrm>
          <a:prstGeom prst="arc">
            <a:avLst>
              <a:gd name="adj1" fmla="val 16200000"/>
              <a:gd name="adj2" fmla="val 5685825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4702970" y="2369716"/>
            <a:ext cx="1357322" cy="158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488656" y="2441154"/>
            <a:ext cx="285752" cy="357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60160" y="2441154"/>
            <a:ext cx="571504" cy="357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1  4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03036" y="1941088"/>
            <a:ext cx="285752" cy="357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87198" y="2798344"/>
            <a:ext cx="571504" cy="357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1  0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4702970" y="3084096"/>
            <a:ext cx="214314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2970" y="3225384"/>
            <a:ext cx="1357322" cy="158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345912" y="3226972"/>
            <a:ext cx="285752" cy="357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9764" y="1941088"/>
            <a:ext cx="1571636" cy="35719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Arial" pitchFamily="34" charset="0"/>
                <a:cs typeface="Arial" pitchFamily="34" charset="0"/>
              </a:rPr>
              <a:t>Divisor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46044" y="1617264"/>
            <a:ext cx="2928958" cy="60957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rial" pitchFamily="34" charset="0"/>
                <a:cs typeface="Arial" pitchFamily="34" charset="0"/>
              </a:rPr>
              <a:t>Natural Number Part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74738" y="3155534"/>
            <a:ext cx="1643074" cy="35719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rial" pitchFamily="34" charset="0"/>
                <a:cs typeface="Arial" pitchFamily="34" charset="0"/>
              </a:rPr>
              <a:t>Remainder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rot="10800000">
            <a:off x="2988458" y="2369716"/>
            <a:ext cx="1357322" cy="28575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5460652" y="2155402"/>
            <a:ext cx="785818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rot="10800000">
            <a:off x="5988854" y="3356878"/>
            <a:ext cx="1214446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1" name="Object 20"/>
          <p:cNvGraphicFramePr>
            <a:graphicFrameLocks noChangeAspect="1"/>
          </p:cNvGraphicFramePr>
          <p:nvPr/>
        </p:nvGraphicFramePr>
        <p:xfrm>
          <a:off x="1066800" y="4267200"/>
          <a:ext cx="1928826" cy="1358946"/>
        </p:xfrm>
        <a:graphic>
          <a:graphicData uri="http://schemas.openxmlformats.org/presentationml/2006/ole">
            <p:oleObj spid="_x0000_s27656" name="Equation" r:id="rId3" imgW="558720" imgH="393480" progId="Equation.3">
              <p:embed/>
            </p:oleObj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3495692" y="4267200"/>
            <a:ext cx="1643074" cy="35719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rial" pitchFamily="34" charset="0"/>
                <a:cs typeface="Arial" pitchFamily="34" charset="0"/>
              </a:rPr>
              <a:t>Remainder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95692" y="5267332"/>
            <a:ext cx="1643074" cy="35719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rial" pitchFamily="34" charset="0"/>
                <a:cs typeface="Arial" pitchFamily="34" charset="0"/>
              </a:rPr>
              <a:t>Divisor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52552" y="5838836"/>
            <a:ext cx="2928958" cy="35719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rial" pitchFamily="34" charset="0"/>
                <a:cs typeface="Arial" pitchFamily="34" charset="0"/>
              </a:rPr>
              <a:t>Natural Number Part</a:t>
            </a:r>
            <a:endParaRPr lang="en-US" sz="1600" b="1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2852750" y="4552952"/>
            <a:ext cx="571504" cy="142876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2852750" y="5267332"/>
            <a:ext cx="571504" cy="142876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rot="5400000">
            <a:off x="1995494" y="5481646"/>
            <a:ext cx="571504" cy="158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39619" y="2534651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."/>
              </a:rPr>
              <a:t>Example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0562" y="3080561"/>
            <a:ext cx="1694148" cy="58477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Ar."/>
              </a:rPr>
              <a:t>14 ÷ 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02340" y="4666734"/>
            <a:ext cx="56733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Ar."/>
              </a:rPr>
              <a:t>Q. Convert        into improper fraction.   (1 ½ Mark)</a:t>
            </a:r>
          </a:p>
          <a:p>
            <a:r>
              <a:rPr lang="en-US" b="1" dirty="0" err="1">
                <a:solidFill>
                  <a:srgbClr val="0000FF"/>
                </a:solidFill>
                <a:latin typeface="Ar."/>
              </a:rPr>
              <a:t>Ans</a:t>
            </a:r>
            <a:r>
              <a:rPr lang="en-US" b="1" dirty="0">
                <a:solidFill>
                  <a:srgbClr val="C00000"/>
                </a:solidFill>
                <a:latin typeface="Ar."/>
              </a:rPr>
              <a:t>:  </a:t>
            </a:r>
            <a:endParaRPr lang="en-US" b="1" dirty="0">
              <a:solidFill>
                <a:srgbClr val="C00000"/>
              </a:solidFill>
            </a:endParaRPr>
          </a:p>
        </p:txBody>
      </p:sp>
      <p:graphicFrame>
        <p:nvGraphicFramePr>
          <p:cNvPr id="31" name="Object 30"/>
          <p:cNvGraphicFramePr>
            <a:graphicFrameLocks noChangeAspect="1"/>
          </p:cNvGraphicFramePr>
          <p:nvPr/>
        </p:nvGraphicFramePr>
        <p:xfrm>
          <a:off x="7194550" y="4652963"/>
          <a:ext cx="241300" cy="393700"/>
        </p:xfrm>
        <a:graphic>
          <a:graphicData uri="http://schemas.openxmlformats.org/presentationml/2006/ole">
            <p:oleObj spid="_x0000_s27657" name="Equation" r:id="rId4" imgW="241200" imgH="393480" progId="Equation.3">
              <p:embed/>
            </p:oleObj>
          </a:graphicData>
        </a:graphic>
      </p:graphicFrame>
      <p:graphicFrame>
        <p:nvGraphicFramePr>
          <p:cNvPr id="32" name="Object 31"/>
          <p:cNvGraphicFramePr>
            <a:graphicFrameLocks noChangeAspect="1"/>
          </p:cNvGraphicFramePr>
          <p:nvPr/>
        </p:nvGraphicFramePr>
        <p:xfrm>
          <a:off x="6584950" y="5008563"/>
          <a:ext cx="215900" cy="393700"/>
        </p:xfrm>
        <a:graphic>
          <a:graphicData uri="http://schemas.openxmlformats.org/presentationml/2006/ole">
            <p:oleObj spid="_x0000_s27658" name="Equation" r:id="rId5" imgW="215640" imgH="39348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/>
      <p:bldP spid="15" grpId="0" animBg="1"/>
      <p:bldP spid="16" grpId="0" animBg="1"/>
      <p:bldP spid="17" grpId="0" animBg="1"/>
      <p:bldP spid="22" grpId="0" animBg="1"/>
      <p:bldP spid="23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1064" y="978806"/>
            <a:ext cx="109312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itchFamily="34" charset="0"/>
                <a:cs typeface="Arial" pitchFamily="34" charset="0"/>
              </a:rPr>
              <a:t>2. </a:t>
            </a:r>
            <a:r>
              <a:rPr lang="en-US" sz="2400" b="1" u="sng" dirty="0">
                <a:latin typeface="Arial" pitchFamily="34" charset="0"/>
                <a:cs typeface="Arial" pitchFamily="34" charset="0"/>
              </a:rPr>
              <a:t>Mixed Number into Improper fraction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18698" y="1470631"/>
            <a:ext cx="1092730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Step1: First multiply the whole number with denominator.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Step2: Then add product of whole number and denominator with numerator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Step3: Write the resultant number as numerator. Also write the denominator.</a:t>
            </a:r>
            <a:endParaRPr lang="en-US" sz="20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45192" y="3896435"/>
            <a:ext cx="1828800" cy="1371600"/>
          </a:xfrm>
          <a:prstGeom prst="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1268105" y="4187588"/>
          <a:ext cx="1214446" cy="949526"/>
        </p:xfrm>
        <a:graphic>
          <a:graphicData uri="http://schemas.openxmlformats.org/presentationml/2006/ole">
            <p:oleObj spid="_x0000_s28678" name="Equation" r:id="rId3" imgW="304560" imgH="393480" progId="Equation.3">
              <p:embed/>
            </p:oleObj>
          </a:graphicData>
        </a:graphic>
      </p:graphicFrame>
      <p:sp>
        <p:nvSpPr>
          <p:cNvPr id="10" name="Rectangle 9"/>
          <p:cNvSpPr/>
          <p:nvPr/>
        </p:nvSpPr>
        <p:spPr>
          <a:xfrm>
            <a:off x="970825" y="3121504"/>
            <a:ext cx="20862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u="sng" dirty="0">
                <a:solidFill>
                  <a:srgbClr val="0000FF"/>
                </a:solidFill>
                <a:latin typeface="Ar."/>
              </a:rPr>
              <a:t>Example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30720" y="3655325"/>
            <a:ext cx="74295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00FF"/>
                </a:solidFill>
                <a:latin typeface="Ar."/>
              </a:rPr>
              <a:t>Natural Number Part x Denominator + Numerator</a:t>
            </a:r>
          </a:p>
          <a:p>
            <a:pPr algn="ctr"/>
            <a:r>
              <a:rPr lang="en-US" sz="2400" b="1" dirty="0">
                <a:solidFill>
                  <a:srgbClr val="0000FF"/>
                </a:solidFill>
                <a:latin typeface="Ar."/>
              </a:rPr>
              <a:t>(33 x 3)  = 99 + 1 = 100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27866" y="4510192"/>
            <a:ext cx="74295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00FF"/>
                </a:solidFill>
                <a:latin typeface="Ar."/>
              </a:rPr>
              <a:t>Natural Number Part x Denominator + Numerator</a:t>
            </a:r>
          </a:p>
          <a:p>
            <a:pPr algn="ctr"/>
            <a:endParaRPr lang="en-US" sz="2400" b="1" dirty="0">
              <a:solidFill>
                <a:srgbClr val="0000FF"/>
              </a:solidFill>
              <a:latin typeface="Ar.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4504094" y="5027612"/>
            <a:ext cx="6929486" cy="158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218342" y="5100935"/>
            <a:ext cx="74295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00FF"/>
                </a:solidFill>
                <a:latin typeface="Ar."/>
              </a:rPr>
              <a:t>Numerator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80176" y="5715000"/>
            <a:ext cx="914400" cy="6096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=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4904096" y="2845798"/>
            <a:ext cx="677838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Ar."/>
              </a:rPr>
              <a:t>Natural Number Part x Denominator</a:t>
            </a:r>
          </a:p>
          <a:p>
            <a:pPr algn="ctr"/>
            <a:r>
              <a:rPr lang="en-US" sz="2400" b="1" dirty="0">
                <a:solidFill>
                  <a:srgbClr val="0000FF"/>
                </a:solidFill>
                <a:latin typeface="Ar."/>
              </a:rPr>
              <a:t>                (33            x      3) = 99</a:t>
            </a:r>
          </a:p>
        </p:txBody>
      </p:sp>
      <p:graphicFrame>
        <p:nvGraphicFramePr>
          <p:cNvPr id="28675" name="Object 3"/>
          <p:cNvGraphicFramePr>
            <a:graphicFrameLocks noChangeAspect="1"/>
          </p:cNvGraphicFramePr>
          <p:nvPr/>
        </p:nvGraphicFramePr>
        <p:xfrm>
          <a:off x="4509448" y="5613779"/>
          <a:ext cx="838200" cy="752475"/>
        </p:xfrm>
        <a:graphic>
          <a:graphicData uri="http://schemas.openxmlformats.org/presentationml/2006/ole">
            <p:oleObj spid="_x0000_s28679" name="Equation" r:id="rId4" imgW="279360" imgH="393480" progId="Equation.3">
              <p:embed/>
            </p:oleObj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45909" y="409433"/>
            <a:ext cx="11041039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u="sng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ACTIVITY ON EQUIVALENT FRACTION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  </a:t>
            </a:r>
            <a:r>
              <a:rPr lang="en-US" dirty="0">
                <a:latin typeface="Arial" pitchFamily="34" charset="0"/>
                <a:cs typeface="Arial" pitchFamily="34" charset="0"/>
              </a:rPr>
              <a:t>Give 3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coloured</a:t>
            </a:r>
            <a:r>
              <a:rPr lang="en-US" dirty="0">
                <a:latin typeface="Arial" pitchFamily="34" charset="0"/>
                <a:cs typeface="Arial" pitchFamily="34" charset="0"/>
              </a:rPr>
              <a:t> paper strips to every student of the class. 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>
                <a:latin typeface="Arial" pitchFamily="34" charset="0"/>
                <a:cs typeface="Arial" pitchFamily="34" charset="0"/>
              </a:rPr>
              <a:t>  Let’s make a fraction strip for 1/2. (Student fold their strips into  2 pieces) 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>
                <a:latin typeface="Arial" pitchFamily="34" charset="0"/>
                <a:cs typeface="Arial" pitchFamily="34" charset="0"/>
              </a:rPr>
              <a:t>  Cut of the pieces to show 1/2. 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>
                <a:latin typeface="Arial" pitchFamily="34" charset="0"/>
                <a:cs typeface="Arial" pitchFamily="34" charset="0"/>
              </a:rPr>
              <a:t>  Fold both  1/2 pieces into half. Now we have 4 pieces.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>
                <a:latin typeface="Arial" pitchFamily="34" charset="0"/>
                <a:cs typeface="Arial" pitchFamily="34" charset="0"/>
              </a:rPr>
              <a:t>  We should have 4ths now. How many of your 4ths equal to  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itchFamily="34" charset="0"/>
                <a:cs typeface="Arial" pitchFamily="34" charset="0"/>
              </a:rPr>
              <a:t>     1/2? </a:t>
            </a:r>
            <a:r>
              <a:rPr lang="en-US" b="1" u="sng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(Ans-2)</a:t>
            </a:r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>
                <a:solidFill>
                  <a:srgbClr val="0033CC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en-US" dirty="0">
                <a:latin typeface="Arial" pitchFamily="34" charset="0"/>
                <a:cs typeface="Arial" pitchFamily="34" charset="0"/>
              </a:rPr>
              <a:t>So,1/2 is equivalent to 2/4.</a:t>
            </a:r>
            <a:endParaRPr lang="en-US" dirty="0">
              <a:latin typeface="Ar.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>
                <a:latin typeface="Arial" pitchFamily="34" charset="0"/>
                <a:cs typeface="Arial" pitchFamily="34" charset="0"/>
              </a:rPr>
              <a:t>  Try folding each of your 1/2 pieces twice. So what fractions do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itchFamily="34" charset="0"/>
                <a:cs typeface="Arial" pitchFamily="34" charset="0"/>
              </a:rPr>
              <a:t>    you get? </a:t>
            </a:r>
            <a:r>
              <a:rPr lang="en-US" b="1" u="sng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(Ans-8ths)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>
                <a:latin typeface="Arial" pitchFamily="34" charset="0"/>
                <a:cs typeface="Arial" pitchFamily="34" charset="0"/>
              </a:rPr>
              <a:t>  How many 8ths are equivalent to  1/2?    </a:t>
            </a:r>
            <a:r>
              <a:rPr lang="en-US" b="1" u="sng" dirty="0">
                <a:solidFill>
                  <a:srgbClr val="0033CC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n-US" b="1" u="sng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Ans-4)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>
                <a:latin typeface="Arial" pitchFamily="34" charset="0"/>
                <a:cs typeface="Arial" pitchFamily="34" charset="0"/>
              </a:rPr>
              <a:t>  At the end we clear that multiplying the numerator and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itchFamily="34" charset="0"/>
                <a:cs typeface="Arial" pitchFamily="34" charset="0"/>
              </a:rPr>
              <a:t>    denominator by 2 is one good way to create equivalent  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itchFamily="34" charset="0"/>
                <a:cs typeface="Arial" pitchFamily="34" charset="0"/>
              </a:rPr>
              <a:t>    fractions.</a:t>
            </a:r>
          </a:p>
          <a:p>
            <a:pPr>
              <a:lnSpc>
                <a:spcPct val="150000"/>
              </a:lnSpc>
            </a:pPr>
            <a:endParaRPr lang="en-US" dirty="0">
              <a:latin typeface="Ar.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98878" y="5638800"/>
            <a:ext cx="1075443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."/>
                <a:hlinkClick r:id="rId2"/>
              </a:rPr>
              <a:t>Click Here</a:t>
            </a:r>
          </a:p>
          <a:p>
            <a:pPr algn="ctr"/>
            <a:r>
              <a:rPr lang="en-US" dirty="0">
                <a:latin typeface="Ar."/>
              </a:rPr>
              <a:t> </a:t>
            </a:r>
            <a:r>
              <a:rPr lang="en-US" b="1" dirty="0">
                <a:latin typeface="Ar."/>
                <a:hlinkClick r:id="rId2"/>
              </a:rPr>
              <a:t>https://youtu.be/9k-7Kbf5GzU</a:t>
            </a:r>
            <a:endParaRPr lang="en-US" b="1" dirty="0">
              <a:latin typeface="Ar."/>
            </a:endParaRPr>
          </a:p>
          <a:p>
            <a:endParaRPr lang="en-US" b="1" dirty="0">
              <a:latin typeface="Ar.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8269" y="419246"/>
            <a:ext cx="1049327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00FF"/>
                </a:solidFill>
                <a:latin typeface="Ar."/>
              </a:rPr>
              <a:t>Mind Map</a:t>
            </a:r>
          </a:p>
        </p:txBody>
      </p:sp>
      <p:pic>
        <p:nvPicPr>
          <p:cNvPr id="3" name="Picture 2" descr="mind 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917" y="838201"/>
            <a:ext cx="10699845" cy="544829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527644" y="354842"/>
            <a:ext cx="3048000" cy="54591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IN" sz="4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FRACTIONS</a:t>
            </a:r>
            <a:endParaRPr lang="en-IN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708244" y="1801504"/>
            <a:ext cx="4038600" cy="8382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just"/>
            <a:r>
              <a:rPr lang="en-IN" sz="2000" b="1" dirty="0">
                <a:ln>
                  <a:prstDash val="solid"/>
                </a:ln>
                <a:solidFill>
                  <a:srgbClr val="0000FF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Part of a whole is a fraction. e.g. 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804244" y="734704"/>
            <a:ext cx="3657600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4070444" y="1890404"/>
          <a:ext cx="914400" cy="198438"/>
        </p:xfrm>
        <a:graphic>
          <a:graphicData uri="http://schemas.openxmlformats.org/presentationml/2006/ole">
            <p:oleObj spid="_x0000_s43018" name="Equation" r:id="rId3" imgW="914400" imgH="198720" progId="">
              <p:embed/>
            </p:oleObj>
          </a:graphicData>
        </a:graphic>
      </p:graphicFrame>
      <p:graphicFrame>
        <p:nvGraphicFramePr>
          <p:cNvPr id="8" name="Object 3"/>
          <p:cNvGraphicFramePr>
            <a:graphicFrameLocks noChangeAspect="1"/>
          </p:cNvGraphicFramePr>
          <p:nvPr/>
        </p:nvGraphicFramePr>
        <p:xfrm>
          <a:off x="5289644" y="2030104"/>
          <a:ext cx="159411" cy="457200"/>
        </p:xfrm>
        <a:graphic>
          <a:graphicData uri="http://schemas.openxmlformats.org/presentationml/2006/ole">
            <p:oleObj spid="_x0000_s43019" name="Equation" r:id="rId4" imgW="152280" imgH="393480" progId="">
              <p:embed/>
            </p:oleObj>
          </a:graphicData>
        </a:graphic>
      </p:graphicFrame>
      <p:sp>
        <p:nvSpPr>
          <p:cNvPr id="9" name="Right Arrow 8"/>
          <p:cNvSpPr/>
          <p:nvPr/>
        </p:nvSpPr>
        <p:spPr>
          <a:xfrm rot="10800000">
            <a:off x="2317844" y="810904"/>
            <a:ext cx="2133600" cy="76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ounded Rectangle 9"/>
          <p:cNvSpPr/>
          <p:nvPr/>
        </p:nvSpPr>
        <p:spPr>
          <a:xfrm>
            <a:off x="1327244" y="2792104"/>
            <a:ext cx="4419600" cy="19050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just"/>
            <a:r>
              <a:rPr lang="en-IN" sz="2000" b="1" dirty="0">
                <a:ln>
                  <a:prstDash val="solid"/>
                </a:ln>
                <a:solidFill>
                  <a:srgbClr val="0000FF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A fraction is made up of a numerator and a denominator. The numerator says how many equal parts are represented and the denominator says into how many equal parts it is divided.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1538044" y="810904"/>
            <a:ext cx="76200" cy="5181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ight Arrow 11"/>
          <p:cNvSpPr/>
          <p:nvPr/>
        </p:nvSpPr>
        <p:spPr>
          <a:xfrm rot="10800000">
            <a:off x="11080844" y="1801504"/>
            <a:ext cx="381000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ounded Rectangle 12"/>
          <p:cNvSpPr/>
          <p:nvPr/>
        </p:nvSpPr>
        <p:spPr>
          <a:xfrm>
            <a:off x="6204044" y="1420504"/>
            <a:ext cx="4800600" cy="9906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just">
              <a:buFont typeface="Wingdings" pitchFamily="2" charset="2"/>
              <a:buChar char="v"/>
            </a:pPr>
            <a:r>
              <a:rPr lang="en-IN" sz="2000" b="1" dirty="0">
                <a:ln>
                  <a:prstDash val="solid"/>
                </a:ln>
                <a:solidFill>
                  <a:srgbClr val="0000FF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 Like and Unlike: In Like fractions denominators are same and in </a:t>
            </a:r>
            <a:r>
              <a:rPr lang="en-IN" sz="2000" b="1">
                <a:ln>
                  <a:prstDash val="solid"/>
                </a:ln>
                <a:solidFill>
                  <a:srgbClr val="0000FF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Unlike fractions  </a:t>
            </a:r>
            <a:r>
              <a:rPr lang="en-IN" sz="2000" b="1" dirty="0">
                <a:ln>
                  <a:prstDash val="solid"/>
                </a:ln>
                <a:solidFill>
                  <a:srgbClr val="0000FF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denominators are different.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4044" y="2563504"/>
            <a:ext cx="4800600" cy="9906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just">
              <a:buFont typeface="Wingdings" pitchFamily="2" charset="2"/>
              <a:buChar char="v"/>
            </a:pPr>
            <a:r>
              <a:rPr lang="en-IN" sz="2000" b="1" dirty="0">
                <a:ln>
                  <a:prstDash val="solid"/>
                </a:ln>
                <a:solidFill>
                  <a:srgbClr val="0000FF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 Proper and Improper: In Proper fractions Numerators are smaller than Denominators.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4044" y="3706504"/>
            <a:ext cx="4800600" cy="9906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just">
              <a:buFont typeface="Wingdings" pitchFamily="2" charset="2"/>
              <a:buChar char="v"/>
            </a:pPr>
            <a:r>
              <a:rPr lang="en-IN" sz="2000" b="1" dirty="0">
                <a:ln>
                  <a:prstDash val="solid"/>
                </a:ln>
                <a:solidFill>
                  <a:srgbClr val="0000FF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 Unit: Fractions having 1 in the numerator. </a:t>
            </a:r>
          </a:p>
        </p:txBody>
      </p:sp>
      <p:sp>
        <p:nvSpPr>
          <p:cNvPr id="16" name="TextBox 15"/>
          <p:cNvSpPr txBox="1"/>
          <p:nvPr/>
        </p:nvSpPr>
        <p:spPr>
          <a:xfrm rot="5400000">
            <a:off x="5808765" y="-723364"/>
            <a:ext cx="553998" cy="3714465"/>
          </a:xfrm>
          <a:prstGeom prst="rect">
            <a:avLst/>
          </a:prstGeom>
          <a:noFill/>
        </p:spPr>
        <p:txBody>
          <a:bodyPr vert="vert270" wrap="square" rtlCol="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n-IN" sz="2400" b="1" dirty="0">
                <a:ln>
                  <a:prstDash val="solid"/>
                </a:ln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TYPES OF FRACTION</a:t>
            </a:r>
          </a:p>
        </p:txBody>
      </p:sp>
      <p:sp>
        <p:nvSpPr>
          <p:cNvPr id="17" name="Right Arrow 16"/>
          <p:cNvSpPr/>
          <p:nvPr/>
        </p:nvSpPr>
        <p:spPr>
          <a:xfrm rot="10800000">
            <a:off x="11080844" y="4087504"/>
            <a:ext cx="381000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ight Arrow 17"/>
          <p:cNvSpPr/>
          <p:nvPr/>
        </p:nvSpPr>
        <p:spPr>
          <a:xfrm rot="10800000">
            <a:off x="11080844" y="3096904"/>
            <a:ext cx="381000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ight Arrow 18"/>
          <p:cNvSpPr/>
          <p:nvPr/>
        </p:nvSpPr>
        <p:spPr>
          <a:xfrm rot="10800000">
            <a:off x="11080844" y="5382903"/>
            <a:ext cx="381000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ounded Rectangle 19"/>
          <p:cNvSpPr/>
          <p:nvPr/>
        </p:nvSpPr>
        <p:spPr>
          <a:xfrm>
            <a:off x="6204044" y="4849504"/>
            <a:ext cx="4800600" cy="12192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just">
              <a:buFont typeface="Wingdings" pitchFamily="2" charset="2"/>
              <a:buChar char="v"/>
            </a:pPr>
            <a:r>
              <a:rPr lang="en-IN" sz="2000" b="1" dirty="0">
                <a:ln>
                  <a:prstDash val="solid"/>
                </a:ln>
                <a:solidFill>
                  <a:srgbClr val="0000FF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 Mixed Number: Improper fractions written as a combination of a natural number and a proper fraction is called a mixed number.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489044" y="1877704"/>
            <a:ext cx="76200" cy="3962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ight Arrow 21"/>
          <p:cNvSpPr/>
          <p:nvPr/>
        </p:nvSpPr>
        <p:spPr>
          <a:xfrm rot="8641310" flipV="1">
            <a:off x="570383" y="1263453"/>
            <a:ext cx="1830252" cy="929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ight Arrow 22"/>
          <p:cNvSpPr/>
          <p:nvPr/>
        </p:nvSpPr>
        <p:spPr>
          <a:xfrm>
            <a:off x="641444" y="2182504"/>
            <a:ext cx="685800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ight Arrow 23"/>
          <p:cNvSpPr/>
          <p:nvPr/>
        </p:nvSpPr>
        <p:spPr>
          <a:xfrm>
            <a:off x="717644" y="3477904"/>
            <a:ext cx="381000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ounded Rectangle 24"/>
          <p:cNvSpPr/>
          <p:nvPr/>
        </p:nvSpPr>
        <p:spPr>
          <a:xfrm>
            <a:off x="1264692" y="4786951"/>
            <a:ext cx="4800600" cy="13716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just"/>
            <a:r>
              <a:rPr lang="en-IN" sz="2000" b="1" dirty="0">
                <a:ln>
                  <a:prstDash val="solid"/>
                </a:ln>
                <a:solidFill>
                  <a:srgbClr val="0000FF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Addition of like fractions:</a:t>
            </a:r>
          </a:p>
          <a:p>
            <a:pPr algn="just"/>
            <a:endParaRPr lang="en-IN" sz="2000" b="1" dirty="0">
              <a:ln>
                <a:prstDash val="solid"/>
              </a:ln>
              <a:solidFill>
                <a:srgbClr val="0000FF"/>
              </a:soli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</a:endParaRPr>
          </a:p>
          <a:p>
            <a:pPr algn="just"/>
            <a:r>
              <a:rPr lang="en-IN" sz="2000" b="1" dirty="0">
                <a:ln>
                  <a:prstDash val="solid"/>
                </a:ln>
                <a:solidFill>
                  <a:srgbClr val="0000FF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Subtraction of like fractions:  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17644" y="5306704"/>
            <a:ext cx="381000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7" name="Object 6"/>
          <p:cNvGraphicFramePr>
            <a:graphicFrameLocks noChangeAspect="1"/>
          </p:cNvGraphicFramePr>
          <p:nvPr/>
        </p:nvGraphicFramePr>
        <p:xfrm>
          <a:off x="4057744" y="5001904"/>
          <a:ext cx="1689100" cy="406400"/>
        </p:xfrm>
        <a:graphic>
          <a:graphicData uri="http://schemas.openxmlformats.org/presentationml/2006/ole">
            <p:oleObj spid="_x0000_s43020" name="Equation" r:id="rId5" imgW="1688760" imgH="406080" progId="">
              <p:embed/>
            </p:oleObj>
          </a:graphicData>
        </a:graphic>
      </p:graphicFrame>
      <p:graphicFrame>
        <p:nvGraphicFramePr>
          <p:cNvPr id="28" name="Object 7"/>
          <p:cNvGraphicFramePr>
            <a:graphicFrameLocks noChangeAspect="1"/>
          </p:cNvGraphicFramePr>
          <p:nvPr/>
        </p:nvGraphicFramePr>
        <p:xfrm>
          <a:off x="4375244" y="5535304"/>
          <a:ext cx="1676400" cy="406400"/>
        </p:xfrm>
        <a:graphic>
          <a:graphicData uri="http://schemas.openxmlformats.org/presentationml/2006/ole">
            <p:oleObj spid="_x0000_s43021" name="Equation" r:id="rId6" imgW="1676160" imgH="406080" progId="">
              <p:embed/>
            </p:oleObj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ounded Rectangle 28"/>
          <p:cNvSpPr/>
          <p:nvPr/>
        </p:nvSpPr>
        <p:spPr>
          <a:xfrm>
            <a:off x="4026089" y="395785"/>
            <a:ext cx="3616657" cy="5595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Ar."/>
              </a:rPr>
              <a:t>FRACTIONS</a:t>
            </a:r>
            <a:endParaRPr lang="en-US" b="1" dirty="0">
              <a:latin typeface="Ar."/>
            </a:endParaRPr>
          </a:p>
        </p:txBody>
      </p:sp>
      <p:sp>
        <p:nvSpPr>
          <p:cNvPr id="30" name="Down Arrow 29"/>
          <p:cNvSpPr/>
          <p:nvPr/>
        </p:nvSpPr>
        <p:spPr>
          <a:xfrm>
            <a:off x="5636525" y="996287"/>
            <a:ext cx="477672" cy="545910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/>
          <p:cNvCxnSpPr/>
          <p:nvPr/>
        </p:nvCxnSpPr>
        <p:spPr>
          <a:xfrm>
            <a:off x="723331" y="1514901"/>
            <a:ext cx="10508776" cy="409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Down Arrow 32"/>
          <p:cNvSpPr/>
          <p:nvPr/>
        </p:nvSpPr>
        <p:spPr>
          <a:xfrm>
            <a:off x="5324901" y="1585415"/>
            <a:ext cx="477672" cy="545910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Down Arrow 33"/>
          <p:cNvSpPr/>
          <p:nvPr/>
        </p:nvSpPr>
        <p:spPr>
          <a:xfrm>
            <a:off x="6869372" y="1574042"/>
            <a:ext cx="477672" cy="545910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Down Arrow 34"/>
          <p:cNvSpPr/>
          <p:nvPr/>
        </p:nvSpPr>
        <p:spPr>
          <a:xfrm>
            <a:off x="8645855" y="1562670"/>
            <a:ext cx="477672" cy="545910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Down Arrow 35"/>
          <p:cNvSpPr/>
          <p:nvPr/>
        </p:nvSpPr>
        <p:spPr>
          <a:xfrm>
            <a:off x="10586113" y="1592239"/>
            <a:ext cx="477672" cy="545910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own Arrow 36"/>
          <p:cNvSpPr/>
          <p:nvPr/>
        </p:nvSpPr>
        <p:spPr>
          <a:xfrm>
            <a:off x="3928280" y="1567218"/>
            <a:ext cx="477672" cy="545910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Down Arrow 37"/>
          <p:cNvSpPr/>
          <p:nvPr/>
        </p:nvSpPr>
        <p:spPr>
          <a:xfrm>
            <a:off x="2306471" y="1528549"/>
            <a:ext cx="477672" cy="545910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Down Arrow 38"/>
          <p:cNvSpPr/>
          <p:nvPr/>
        </p:nvSpPr>
        <p:spPr>
          <a:xfrm>
            <a:off x="725606" y="1558120"/>
            <a:ext cx="477672" cy="545910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8051646" y="391951"/>
            <a:ext cx="349435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Ar."/>
              </a:rPr>
              <a:t>What are Fractions</a:t>
            </a:r>
          </a:p>
          <a:p>
            <a:pPr algn="ctr"/>
            <a:r>
              <a:rPr lang="en-US" b="1" dirty="0">
                <a:solidFill>
                  <a:srgbClr val="0000FF"/>
                </a:solidFill>
                <a:latin typeface="Ar."/>
              </a:rPr>
              <a:t>Fractions are a PART of a WHOLE 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6648" y="2343581"/>
            <a:ext cx="1365800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Ar."/>
              </a:rPr>
              <a:t>Equivalent Fraction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05198" y="2357228"/>
            <a:ext cx="1202026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Ar."/>
              </a:rPr>
              <a:t>Like Fraction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66531" y="2370876"/>
            <a:ext cx="1392073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Ar."/>
              </a:rPr>
              <a:t>Unlike</a:t>
            </a:r>
            <a:r>
              <a:rPr lang="en-US" dirty="0"/>
              <a:t> </a:t>
            </a:r>
            <a:r>
              <a:rPr lang="en-US" b="1" dirty="0">
                <a:latin typeface="Ar."/>
              </a:rPr>
              <a:t>Fractions</a:t>
            </a:r>
            <a:endParaRPr lang="en-US" dirty="0"/>
          </a:p>
        </p:txBody>
      </p:sp>
      <p:sp>
        <p:nvSpPr>
          <p:cNvPr id="44" name="Rectangle 43"/>
          <p:cNvSpPr/>
          <p:nvPr/>
        </p:nvSpPr>
        <p:spPr>
          <a:xfrm>
            <a:off x="5062297" y="2357228"/>
            <a:ext cx="1202026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Ar."/>
              </a:rPr>
              <a:t>Proper</a:t>
            </a:r>
            <a:r>
              <a:rPr lang="en-US" dirty="0"/>
              <a:t> </a:t>
            </a:r>
            <a:r>
              <a:rPr lang="en-US" b="1" dirty="0">
                <a:latin typeface="Ar."/>
              </a:rPr>
              <a:t>Fraction</a:t>
            </a:r>
            <a:endParaRPr lang="en-US" dirty="0"/>
          </a:p>
        </p:txBody>
      </p:sp>
      <p:sp>
        <p:nvSpPr>
          <p:cNvPr id="45" name="Rectangle 44"/>
          <p:cNvSpPr/>
          <p:nvPr/>
        </p:nvSpPr>
        <p:spPr>
          <a:xfrm>
            <a:off x="6645438" y="2370876"/>
            <a:ext cx="1202026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Ar."/>
              </a:rPr>
              <a:t>Improper</a:t>
            </a:r>
            <a:r>
              <a:rPr lang="en-US" dirty="0"/>
              <a:t> </a:t>
            </a:r>
            <a:r>
              <a:rPr lang="en-US" b="1" dirty="0">
                <a:latin typeface="Ar."/>
              </a:rPr>
              <a:t>Fraction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55874" y="2384524"/>
            <a:ext cx="1202026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Ar."/>
              </a:rPr>
              <a:t>Unit</a:t>
            </a:r>
            <a:r>
              <a:rPr lang="en-US" dirty="0"/>
              <a:t> </a:t>
            </a:r>
            <a:r>
              <a:rPr lang="en-US" b="1" dirty="0">
                <a:latin typeface="Ar."/>
              </a:rPr>
              <a:t>Fraction</a:t>
            </a:r>
            <a:endParaRPr lang="en-US" dirty="0"/>
          </a:p>
        </p:txBody>
      </p:sp>
      <p:sp>
        <p:nvSpPr>
          <p:cNvPr id="47" name="Rectangle 46"/>
          <p:cNvSpPr/>
          <p:nvPr/>
        </p:nvSpPr>
        <p:spPr>
          <a:xfrm>
            <a:off x="10152913" y="2357229"/>
            <a:ext cx="1202026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Ar."/>
              </a:rPr>
              <a:t>Mixed</a:t>
            </a:r>
            <a:r>
              <a:rPr lang="en-US" dirty="0"/>
              <a:t> </a:t>
            </a:r>
            <a:r>
              <a:rPr lang="en-US" b="1" dirty="0">
                <a:latin typeface="Ar."/>
              </a:rPr>
              <a:t>Number</a:t>
            </a:r>
            <a:endParaRPr lang="en-US" dirty="0"/>
          </a:p>
        </p:txBody>
      </p:sp>
      <p:graphicFrame>
        <p:nvGraphicFramePr>
          <p:cNvPr id="50" name="Object 49"/>
          <p:cNvGraphicFramePr>
            <a:graphicFrameLocks noChangeAspect="1"/>
          </p:cNvGraphicFramePr>
          <p:nvPr/>
        </p:nvGraphicFramePr>
        <p:xfrm>
          <a:off x="615381" y="3871829"/>
          <a:ext cx="422275" cy="1090612"/>
        </p:xfrm>
        <a:graphic>
          <a:graphicData uri="http://schemas.openxmlformats.org/presentationml/2006/ole">
            <p:oleObj spid="_x0000_s29716" name="Equation" r:id="rId3" imgW="152280" imgH="393480" progId="Equation.3">
              <p:embed/>
            </p:oleObj>
          </a:graphicData>
        </a:graphic>
      </p:graphicFrame>
      <p:graphicFrame>
        <p:nvGraphicFramePr>
          <p:cNvPr id="29703" name="Object 7"/>
          <p:cNvGraphicFramePr>
            <a:graphicFrameLocks noChangeAspect="1"/>
          </p:cNvGraphicFramePr>
          <p:nvPr/>
        </p:nvGraphicFramePr>
        <p:xfrm>
          <a:off x="1859175" y="3868961"/>
          <a:ext cx="1231900" cy="1090613"/>
        </p:xfrm>
        <a:graphic>
          <a:graphicData uri="http://schemas.openxmlformats.org/presentationml/2006/ole">
            <p:oleObj spid="_x0000_s29717" name="Equation" r:id="rId4" imgW="444240" imgH="393480" progId="Equation.3">
              <p:embed/>
            </p:oleObj>
          </a:graphicData>
        </a:graphic>
      </p:graphicFrame>
      <p:graphicFrame>
        <p:nvGraphicFramePr>
          <p:cNvPr id="29704" name="Object 8"/>
          <p:cNvGraphicFramePr>
            <a:graphicFrameLocks noChangeAspect="1"/>
          </p:cNvGraphicFramePr>
          <p:nvPr/>
        </p:nvGraphicFramePr>
        <p:xfrm>
          <a:off x="3549128" y="3880454"/>
          <a:ext cx="1231900" cy="1090612"/>
        </p:xfrm>
        <a:graphic>
          <a:graphicData uri="http://schemas.openxmlformats.org/presentationml/2006/ole">
            <p:oleObj spid="_x0000_s29718" name="Equation" r:id="rId5" imgW="444240" imgH="393480" progId="Equation.3">
              <p:embed/>
            </p:oleObj>
          </a:graphicData>
        </a:graphic>
      </p:graphicFrame>
      <p:graphicFrame>
        <p:nvGraphicFramePr>
          <p:cNvPr id="29705" name="Object 9"/>
          <p:cNvGraphicFramePr>
            <a:graphicFrameLocks noChangeAspect="1"/>
          </p:cNvGraphicFramePr>
          <p:nvPr/>
        </p:nvGraphicFramePr>
        <p:xfrm>
          <a:off x="5203470" y="3863939"/>
          <a:ext cx="1057275" cy="1090613"/>
        </p:xfrm>
        <a:graphic>
          <a:graphicData uri="http://schemas.openxmlformats.org/presentationml/2006/ole">
            <p:oleObj spid="_x0000_s29719" name="Equation" r:id="rId6" imgW="380880" imgH="393480" progId="Equation.3">
              <p:embed/>
            </p:oleObj>
          </a:graphicData>
        </a:graphic>
      </p:graphicFrame>
      <p:graphicFrame>
        <p:nvGraphicFramePr>
          <p:cNvPr id="29706" name="Object 10"/>
          <p:cNvGraphicFramePr>
            <a:graphicFrameLocks noChangeAspect="1"/>
          </p:cNvGraphicFramePr>
          <p:nvPr/>
        </p:nvGraphicFramePr>
        <p:xfrm>
          <a:off x="6665249" y="3861072"/>
          <a:ext cx="1268412" cy="1090612"/>
        </p:xfrm>
        <a:graphic>
          <a:graphicData uri="http://schemas.openxmlformats.org/presentationml/2006/ole">
            <p:oleObj spid="_x0000_s29720" name="Equation" r:id="rId7" imgW="457200" imgH="393480" progId="Equation.3">
              <p:embed/>
            </p:oleObj>
          </a:graphicData>
        </a:graphic>
      </p:graphicFrame>
      <p:graphicFrame>
        <p:nvGraphicFramePr>
          <p:cNvPr id="29707" name="Object 11"/>
          <p:cNvGraphicFramePr>
            <a:graphicFrameLocks noChangeAspect="1"/>
          </p:cNvGraphicFramePr>
          <p:nvPr/>
        </p:nvGraphicFramePr>
        <p:xfrm>
          <a:off x="8347051" y="3899836"/>
          <a:ext cx="1092200" cy="1090612"/>
        </p:xfrm>
        <a:graphic>
          <a:graphicData uri="http://schemas.openxmlformats.org/presentationml/2006/ole">
            <p:oleObj spid="_x0000_s29721" name="Equation" r:id="rId8" imgW="393480" imgH="393480" progId="Equation.3">
              <p:embed/>
            </p:oleObj>
          </a:graphicData>
        </a:graphic>
      </p:graphicFrame>
      <p:graphicFrame>
        <p:nvGraphicFramePr>
          <p:cNvPr id="29708" name="Object 12"/>
          <p:cNvGraphicFramePr>
            <a:graphicFrameLocks noChangeAspect="1"/>
          </p:cNvGraphicFramePr>
          <p:nvPr/>
        </p:nvGraphicFramePr>
        <p:xfrm>
          <a:off x="9917113" y="3856997"/>
          <a:ext cx="1550987" cy="1090612"/>
        </p:xfrm>
        <a:graphic>
          <a:graphicData uri="http://schemas.openxmlformats.org/presentationml/2006/ole">
            <p:oleObj spid="_x0000_s29722" name="Equation" r:id="rId9" imgW="558720" imgH="393480" progId="Equation.3">
              <p:embed/>
            </p:oleObj>
          </a:graphicData>
        </a:graphic>
      </p:graphicFrame>
      <p:sp>
        <p:nvSpPr>
          <p:cNvPr id="57" name="Rectangle 56"/>
          <p:cNvSpPr/>
          <p:nvPr/>
        </p:nvSpPr>
        <p:spPr>
          <a:xfrm>
            <a:off x="3930556" y="3244334"/>
            <a:ext cx="3616804" cy="584775"/>
          </a:xfrm>
          <a:prstGeom prst="rect">
            <a:avLst/>
          </a:prstGeom>
          <a:solidFill>
            <a:srgbClr val="92D050"/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latin typeface="Ar."/>
              </a:rPr>
              <a:t>Examples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56542" y="405600"/>
            <a:ext cx="102212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spc="-245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Learning Outcomes</a:t>
            </a:r>
            <a:endParaRPr lang="en-US" sz="3200" dirty="0"/>
          </a:p>
        </p:txBody>
      </p:sp>
      <p:sp>
        <p:nvSpPr>
          <p:cNvPr id="5" name="Rectangle 4"/>
          <p:cNvSpPr/>
          <p:nvPr/>
        </p:nvSpPr>
        <p:spPr>
          <a:xfrm>
            <a:off x="509516" y="1287145"/>
            <a:ext cx="1102284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200" b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Fractions </a:t>
            </a:r>
            <a:r>
              <a:rPr lang="en-US" sz="32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and use of fraction in real life.</a:t>
            </a:r>
          </a:p>
          <a:p>
            <a:pPr lvl="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2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Finding of  Fraction from a given fraction.</a:t>
            </a:r>
          </a:p>
          <a:p>
            <a:pPr lvl="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2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Adding and Subtracting of like fractions.</a:t>
            </a:r>
          </a:p>
          <a:p>
            <a:pPr lvl="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200" b="1" dirty="0">
                <a:solidFill>
                  <a:srgbClr val="006600"/>
                </a:solidFill>
                <a:latin typeface="Arial" pitchFamily="34" charset="0"/>
                <a:cs typeface="Arial" pitchFamily="34" charset="0"/>
              </a:rPr>
              <a:t>Converting fraction into mixed number.</a:t>
            </a:r>
          </a:p>
          <a:p>
            <a:pPr lvl="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2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Converting mixed number into improper fraction.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0.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257" y="601640"/>
            <a:ext cx="10217624" cy="56490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2294</TotalTime>
  <Words>1129</Words>
  <Application>Microsoft Macintosh PowerPoint</Application>
  <PresentationFormat>Custom</PresentationFormat>
  <Paragraphs>233</Paragraphs>
  <Slides>27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9" baseType="lpstr">
      <vt:lpstr>Office Theme</vt:lpstr>
      <vt:lpstr>Equation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rajni bala</cp:lastModifiedBy>
  <cp:revision>453</cp:revision>
  <cp:lastPrinted>2019-08-12T06:05:42Z</cp:lastPrinted>
  <dcterms:created xsi:type="dcterms:W3CDTF">2019-08-06T09:37:04Z</dcterms:created>
  <dcterms:modified xsi:type="dcterms:W3CDTF">2020-07-08T10:41:12Z</dcterms:modified>
</cp:coreProperties>
</file>